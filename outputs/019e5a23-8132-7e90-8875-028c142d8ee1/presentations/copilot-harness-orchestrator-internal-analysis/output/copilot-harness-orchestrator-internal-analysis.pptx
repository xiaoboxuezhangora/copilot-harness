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d1dc31327546f3" /><Relationship Type="http://schemas.openxmlformats.org/officeDocument/2006/relationships/extended-properties" Target="/docProps/app.xml" Id="R20d2f39a8bf14a7f" /><Relationship Type="http://schemas.openxmlformats.org/officeDocument/2006/relationships/officeDocument" Target="/ppt/presentation.xml" Id="Rc382f6e66eba4a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1e228d3ed4735"/>
  </p:sldMasterIdLst>
  <p:notesMasterIdLst>
    <p:notesMasterId xmlns:r="http://schemas.openxmlformats.org/officeDocument/2006/relationships" r:id="Rceefcf2545c24b7f"/>
  </p:notesMasterIdLst>
  <p:sldIdLst>
    <p:sldId xmlns:r="http://schemas.openxmlformats.org/officeDocument/2006/relationships" id="256" r:id="Rf678fe0edb4746c1"/>
    <p:sldId xmlns:r="http://schemas.openxmlformats.org/officeDocument/2006/relationships" id="257" r:id="R5984e0a1550c44ac"/>
    <p:sldId xmlns:r="http://schemas.openxmlformats.org/officeDocument/2006/relationships" id="258" r:id="R37ff84f6e63441a6"/>
    <p:sldId xmlns:r="http://schemas.openxmlformats.org/officeDocument/2006/relationships" id="259" r:id="R425f25b9acf147fc"/>
    <p:sldId xmlns:r="http://schemas.openxmlformats.org/officeDocument/2006/relationships" id="260" r:id="Rfc81f98bf15e4722"/>
    <p:sldId xmlns:r="http://schemas.openxmlformats.org/officeDocument/2006/relationships" id="261" r:id="R6657652c9f194346"/>
    <p:sldId xmlns:r="http://schemas.openxmlformats.org/officeDocument/2006/relationships" id="262" r:id="R0ed04d94b08143c5"/>
    <p:sldId xmlns:r="http://schemas.openxmlformats.org/officeDocument/2006/relationships" id="263" r:id="R9fe1e568663e4ae6"/>
    <p:sldId xmlns:r="http://schemas.openxmlformats.org/officeDocument/2006/relationships" id="264" r:id="Rac9bd52e10784525"/>
    <p:sldId xmlns:r="http://schemas.openxmlformats.org/officeDocument/2006/relationships" id="265" r:id="Raf135585eef44861"/>
    <p:sldId xmlns:r="http://schemas.openxmlformats.org/officeDocument/2006/relationships" id="266" r:id="R2fa57fa785764dd8"/>
    <p:sldId xmlns:r="http://schemas.openxmlformats.org/officeDocument/2006/relationships" id="267" r:id="Ra37547f4797f4110"/>
    <p:sldId xmlns:r="http://schemas.openxmlformats.org/officeDocument/2006/relationships" id="268" r:id="R62ec8e173e5a46d6"/>
    <p:sldId xmlns:r="http://schemas.openxmlformats.org/officeDocument/2006/relationships" id="269" r:id="R80c7c8194d1e4b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1e228d3ed4735" /><Relationship Type="http://schemas.openxmlformats.org/officeDocument/2006/relationships/theme" Target="/ppt/theme/theme1.xml" Id="R36a7787917284082" /><Relationship Type="http://schemas.openxmlformats.org/officeDocument/2006/relationships/notesMaster" Target="/ppt/notesMasters/notesMaster1.xml" Id="Rceefcf2545c24b7f" /><Relationship Type="http://schemas.openxmlformats.org/officeDocument/2006/relationships/presProps" Target="/ppt/presProps.xml" Id="Rbe19b23785a341d2" /><Relationship Type="http://schemas.openxmlformats.org/officeDocument/2006/relationships/viewProps" Target="/ppt/viewProps.xml" Id="Re5e426f0e5e4449b" /><Relationship Type="http://schemas.openxmlformats.org/officeDocument/2006/relationships/tableStyles" Target="/ppt/tableStyles.xml" Id="R9d7c461af76b4a5f" /><Relationship Type="http://schemas.openxmlformats.org/officeDocument/2006/relationships/slide" Target="/ppt/slides/slide1.xml" Id="Rf678fe0edb4746c1" /><Relationship Type="http://schemas.openxmlformats.org/officeDocument/2006/relationships/slide" Target="/ppt/slides/slide2.xml" Id="R5984e0a1550c44ac" /><Relationship Type="http://schemas.openxmlformats.org/officeDocument/2006/relationships/slide" Target="/ppt/slides/slide3.xml" Id="R37ff84f6e63441a6" /><Relationship Type="http://schemas.openxmlformats.org/officeDocument/2006/relationships/slide" Target="/ppt/slides/slide4.xml" Id="R425f25b9acf147fc" /><Relationship Type="http://schemas.openxmlformats.org/officeDocument/2006/relationships/slide" Target="/ppt/slides/slide5.xml" Id="Rfc81f98bf15e4722" /><Relationship Type="http://schemas.openxmlformats.org/officeDocument/2006/relationships/slide" Target="/ppt/slides/slide6.xml" Id="R6657652c9f194346" /><Relationship Type="http://schemas.openxmlformats.org/officeDocument/2006/relationships/slide" Target="/ppt/slides/slide7.xml" Id="R0ed04d94b08143c5" /><Relationship Type="http://schemas.openxmlformats.org/officeDocument/2006/relationships/slide" Target="/ppt/slides/slide8.xml" Id="R9fe1e568663e4ae6" /><Relationship Type="http://schemas.openxmlformats.org/officeDocument/2006/relationships/slide" Target="/ppt/slides/slide9.xml" Id="Rac9bd52e10784525" /><Relationship Type="http://schemas.openxmlformats.org/officeDocument/2006/relationships/slide" Target="/ppt/slides/slide10.xml" Id="Raf135585eef44861" /><Relationship Type="http://schemas.openxmlformats.org/officeDocument/2006/relationships/slide" Target="/ppt/slides/slide11.xml" Id="R2fa57fa785764dd8" /><Relationship Type="http://schemas.openxmlformats.org/officeDocument/2006/relationships/slide" Target="/ppt/slides/slide12.xml" Id="Ra37547f4797f4110" /><Relationship Type="http://schemas.openxmlformats.org/officeDocument/2006/relationships/slide" Target="/ppt/slides/slide13.xml" Id="R62ec8e173e5a46d6" /><Relationship Type="http://schemas.openxmlformats.org/officeDocument/2006/relationships/slide" Target="/ppt/slides/slide14.xml" Id="R80c7c8194d1e4b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5387214f344d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15e6e3fc64577" /><Relationship Type="http://schemas.openxmlformats.org/officeDocument/2006/relationships/notesMaster" Target="/ppt/notesMasters/notesMaster1.xml" Id="R798c594ebb9c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29577b88594ae3" /><Relationship Type="http://schemas.openxmlformats.org/officeDocument/2006/relationships/notesMaster" Target="/ppt/notesMasters/notesMaster1.xml" Id="R203ab8025a87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62e4b737d4518" /><Relationship Type="http://schemas.openxmlformats.org/officeDocument/2006/relationships/notesMaster" Target="/ppt/notesMasters/notesMaster1.xml" Id="R841cd15c98c14a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28759d2c34f80" /><Relationship Type="http://schemas.openxmlformats.org/officeDocument/2006/relationships/notesMaster" Target="/ppt/notesMasters/notesMaster1.xml" Id="R8dc74c8f9f094f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621085c2340fc" /><Relationship Type="http://schemas.openxmlformats.org/officeDocument/2006/relationships/notesMaster" Target="/ppt/notesMasters/notesMaster1.xml" Id="R08802e21e98d45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d9f570af114d55" /><Relationship Type="http://schemas.openxmlformats.org/officeDocument/2006/relationships/notesMaster" Target="/ppt/notesMasters/notesMaster1.xml" Id="R9be6add5d7b5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16434f704a4e0e" /><Relationship Type="http://schemas.openxmlformats.org/officeDocument/2006/relationships/notesMaster" Target="/ppt/notesMasters/notesMaster1.xml" Id="R4ee87f5598a044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da76eb853488f" /><Relationship Type="http://schemas.openxmlformats.org/officeDocument/2006/relationships/notesMaster" Target="/ppt/notesMasters/notesMaster1.xml" Id="R02c8668d9eff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f247905e62440f" /><Relationship Type="http://schemas.openxmlformats.org/officeDocument/2006/relationships/notesMaster" Target="/ppt/notesMasters/notesMaster1.xml" Id="R9517bddaf2cc4a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1164c0132b4574" /><Relationship Type="http://schemas.openxmlformats.org/officeDocument/2006/relationships/notesMaster" Target="/ppt/notesMasters/notesMaster1.xml" Id="R0b537306f1f142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ce39140ce1431f" /><Relationship Type="http://schemas.openxmlformats.org/officeDocument/2006/relationships/notesMaster" Target="/ppt/notesMasters/notesMaster1.xml" Id="R412e5e6adae24a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3e1a29c3a54140" /><Relationship Type="http://schemas.openxmlformats.org/officeDocument/2006/relationships/notesMaster" Target="/ppt/notesMasters/notesMaster1.xml" Id="Rdff5e2fa95c940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58ccc7c6de41f3" /><Relationship Type="http://schemas.openxmlformats.org/officeDocument/2006/relationships/notesMaster" Target="/ppt/notesMasters/notesMaster1.xml" Id="Rd2a2af213c3a4e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5795dc7cb8409b" /><Relationship Type="http://schemas.openxmlformats.org/officeDocument/2006/relationships/notesMaster" Target="/ppt/notesMasters/notesMaster1.xml" Id="Rb5af2f61a37e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开场先把概念放轻松：今天不讲“模型多聪明”，讲“怎么让聪明的模型在企业里不乱跑”。Orchestrator 可以理解成中控塔：它不替飞机飞，但它决定航道、许可、预算和留痕。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这页是全场主线。模型像发动机，决定马力上限；Harness 像底盘、刹车和仪表盘，决定能不能稳定上路。我们真正做的是把“会写代码”升级成“可交付、可审计、可复盘”。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这里要把理想和现实分开讲。当前工程已经不是空壳：Runtime、Gates、Context、Audit、Auto-Memory、Fleet mock 都有实现和测试出口。但真实写回、真实多工位 fanout、自动 MR 这些还没放开。换句话说，驾驶课过了，载人上高速还要再验车。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这张图是总架构。任务进来以后，Orchestrator 不亲自干所有活，而是调度五类能力：先装上下文，再启动运行时，中途有门禁，记忆和审计贯穿全程。它像饭店前台加后厨调度：客人点的是菜，系统管的是菜单、出餐顺序和小票。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五个目录不是把 Orchestrator 横着切成五块，而是五个被调度的专业岗位。runtime 是发动机适配器，gates 是门禁，context 是备菜台，memory 是可审批笔记本，audit 是行车记录仪。每个岗位只做一件事，系统才不会变成一锅粥。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一次任务的关键顺序是：先拼证据和上下文，再把 Hook 装进 runtime，然后模型每次想用工具都要过门禁，最后结果进入验证和审计。精妙点在 Hook：runtime 不需要知道 gates 的业务细节，gates 也不用绑死 runtime，Orchestrator 负责穿针引线。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这页用餐厅比喻解释 function calling。Orchestrator 先决定菜单上能出现哪些工具；模型可以从菜单里点菜，也能写参数；但真正端上桌前，BudgetGate 和 PolicyGate 还有否决权。模型有选择权，Orchestrator 有刹车权。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路由不是“全交给模型猜”。更稳的做法是漏斗：能用规则就用规则，规则不够再用 Profile，最后才让模型软路由兜底。当前代码里已经有规则型 profile router，也有 skill loader 的业务触发示例；Notion 里的三层漏斗是后续扩展方向。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四道 Hook 链是治理面的主角。BudgetGate 管钱包，PolicyGate 管权限，Validator 管质量，Audit 管小票。听起来像公司流程，但放在 AI 系统里很关键：不是为了慢，而是为了出事时能知道“谁让它做的、花了多少、证据在哪”。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BudgetGate 值得单独讲，因为它最能体现工程前瞻。它不是只看一次请求贵不贵，而是看整项任务的累计水位：fanout、tool calls、input/output tokens、premium requests。超限后不炸成 500，而是返回 blocked partial-result，方便上游转人工或降级重跑。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 这块最容易被误解成“AI 自动记笔记”。我们的设计更像班主任批改错题本：Harvester 只能提候选，source_ref 不全直接不收；pending 里的条目要经过 Review CLI；通过后才进 MemoryStore，下一轮以 hot_index 形式注入。避免 AI 自己把错知识写成祖训。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Fleet/Arena 是多 Agent 的雏形，但当前是 deterministic mock。流程像选秀：planner 出题，多个 implementer 交卷，critic 双跑评分，reviewer 出 draft artifact。现在舞台灯光和评分规则都有了，但真实 worktree fanout 和真实 MR 创建还没开闸。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市场定位不要说成“我们发明了 Orchestrator”。更准确是：标准和模式尽量借，治理层自己补。很多框架解决的是 Agent 怎么跑，我们关心的是 Agent 在企业里怎么敢跑、怎么算账、怎么留证据、怎么不越权。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收尾强调节奏：不要靠勇气开生产写回，要按门禁成熟度一层层放开。先刷新展示与 release gate，接 Runner，做 Memory dual-write，再只读 Resolver，最后才考虑 Draft MR 写回。最后一句：我们不是给模型戴手铐，是给模型装方向盘和刹车。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22c7396c6409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7959801bb847b7" /><Relationship Type="http://schemas.openxmlformats.org/officeDocument/2006/relationships/slideLayout" Target="/ppt/slideLayouts/slideLayout2.xml" Id="Re3e13ec21130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e13ec21130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1644c23b54b4b" /><Relationship Type="http://schemas.openxmlformats.org/officeDocument/2006/relationships/notesSlide" Target="/ppt/notesSlides/notesSlide1.xml" Id="R3cfb0079eee1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311869ebc45fe" /><Relationship Type="http://schemas.openxmlformats.org/officeDocument/2006/relationships/notesSlide" Target="/ppt/notesSlides/notesSlide2.xml" Id="R6e594e68cb4b4c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581aa30b341e1" /><Relationship Type="http://schemas.openxmlformats.org/officeDocument/2006/relationships/notesSlide" Target="/ppt/notesSlides/notesSlide3.xml" Id="R3bbfa23af90d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e5bbb6f4146f9" /><Relationship Type="http://schemas.openxmlformats.org/officeDocument/2006/relationships/notesSlide" Target="/ppt/notesSlides/notesSlide4.xml" Id="Re57a0906815149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b02ac1373c4ed7" /><Relationship Type="http://schemas.openxmlformats.org/officeDocument/2006/relationships/notesSlide" Target="/ppt/notesSlides/notesSlide5.xml" Id="Ree39a62c3ae1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8a0a5ea0074c1f" /><Relationship Type="http://schemas.openxmlformats.org/officeDocument/2006/relationships/notesSlide" Target="/ppt/notesSlides/notesSlide6.xml" Id="R9b6933d71889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69c55aa10490c" /><Relationship Type="http://schemas.openxmlformats.org/officeDocument/2006/relationships/notesSlide" Target="/ppt/notesSlides/notesSlide7.xml" Id="R5cd04cf8cc1047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28148521d4623" /><Relationship Type="http://schemas.openxmlformats.org/officeDocument/2006/relationships/notesSlide" Target="/ppt/notesSlides/notesSlide8.xml" Id="R61907bdf2ffd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5a4517ff2946c0" /><Relationship Type="http://schemas.openxmlformats.org/officeDocument/2006/relationships/notesSlide" Target="/ppt/notesSlides/notesSlide9.xml" Id="R9de364cd9ce744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81dcea29ef4804" /><Relationship Type="http://schemas.openxmlformats.org/officeDocument/2006/relationships/notesSlide" Target="/ppt/notesSlides/notesSlide10.xml" Id="R86695977b13d4b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e4819bf9914820" /><Relationship Type="http://schemas.openxmlformats.org/officeDocument/2006/relationships/notesSlide" Target="/ppt/notesSlides/notesSlide11.xml" Id="Rfc7d08f6658442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094db285f484c" /><Relationship Type="http://schemas.openxmlformats.org/officeDocument/2006/relationships/notesSlide" Target="/ppt/notesSlides/notesSlide12.xml" Id="R12417d9670b54a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80299aea2d44fd" /><Relationship Type="http://schemas.openxmlformats.org/officeDocument/2006/relationships/notesSlide" Target="/ppt/notesSlides/notesSlide13.xml" Id="R4a3fdf0ccd8042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d73a7acdc43a8" /><Relationship Type="http://schemas.openxmlformats.org/officeDocument/2006/relationships/notesSlide" Target="/ppt/notesSlides/notesSlide14.xml" Id="R22c1175f6895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FF678F-D2D2-4BD7-ADE4-E5E6E4E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8C1AF-38B4-46E8-904D-B259F0FF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内部分析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1D3C4-851C-4048-9AEB-C5BA139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Copilot-Harness Orchestrator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EF41-0FF2-42E0-A861-B462A3A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把“会写代码的 AI”变成“敢进企业流程的研发副手”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C7A9-AD96-41C3-BBC5-B265EF2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基于 Notion 分享文档 + 当前仓库实现的内部拆解稿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4AF88-E1A8-4813-B1E0-D4A697D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191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中控塔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8771E-0E38-430B-8DBA-AE13B614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任务不是乱飞：要进航道、过许可、留黑匣子</a:t>
            </a:r>
          </a:p>
        </p:txBody>
      </p:sp>
      <p:cxnSp>
        <p:nvCxnSpPr>
          <p:cNvPr id="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858375" y="194310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549CD-89A8-4606-9399-BF01C0F2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Notion 讲法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F6138-3A8B-4455-B673-A8B42271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马具、指挥家、菜单、账房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0D477-1DB0-4FDB-B2AD-15BA865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765A5-DA4E-4516-9FE8-3CB2CB0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053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runtime / gates / context / memory /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95B7-BD26-40D3-8D28-529175B4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72B9D-15B3-4979-BEDE-9F05F9A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149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已落地、未放行、下一步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B7AA1-82C6-4453-8B73-C45EEF9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C3795-5572-411B-89FE-D8DE870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Source: Notion 5356cbbb... + repo docs/code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070FF-C9C1-4F28-BD53-BA59CF2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9204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080E3-930E-407A-B2D7-C20A189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58647-C8E5-4299-90D1-7B4B35F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核心命题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DB0F3-63D4-4CCC-92FA-C805340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模型管上限，Harness 管下限；Orchestrator 管过程。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4A951-88AC-4A63-AD97-6AABF66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模型能力</a:t>
            </a:r>
          </a:p>
          <a:p xmlns:a="http://schemas.openxmlformats.org/drawingml/2006/main">
            <a:pPr algn="ctr">
              <a:def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会推理、会写代码、会调用工具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E0D8-ABEC-45D2-AB63-B52D823D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企业现实</a:t>
            </a:r>
          </a:p>
          <a:p xmlns:a="http://schemas.openxmlformats.org/drawingml/2006/main">
            <a:pPr algn="ctr">
              <a:def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预算、权限、证据、审计、人工审批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B5F98-5DCD-4A08-9215-D690B24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C9FC4-4C98-45B2-BDB0-6B2AD65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Harness</a:t>
            </a:r>
          </a:p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把聪明变成可交付，把随机变成可治理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BF1D1-FE3D-4669-A6D0-B256DC7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04738-5613-4F10-AD8F-4A15946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9601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228600" tIns="171450" rIns="228600" bIns="1714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一句话：底层模型像发动机，但企业要的是整车。没有刹车、仪表盘和行车记录仪，马力越大越刺激，也越容易刺激到法务。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397BC-E6B7-481F-9603-B47F2116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FA268-467C-4480-8C47-61F0E69E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Notion 原文核心命题；repo: docs/framework/03-architecture-blueprint.md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2D078-F15B-440D-98AE-A3C514E8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3067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41BDF-836D-47CB-87CC-B30AE502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8E467-47A0-4352-A1C4-6E9C12A6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工程现实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0AB25-D441-4EB5-AAAB-838EB8FD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当前仓库已经有控制面骨架，但生产写回仍按下暂停键。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9E26-729B-4B64-AB21-4197B3F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已落地，可以讲“工程实现”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A1076-46D6-4D7E-9E76-3EAA630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未放行，只能讲“边界/下一步”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C6DE-AB24-4CF0-8772-716D00A0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14288">
            <a:solidFill>
              <a:srgbClr val="1E5B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5FE1F-73D4-43D2-A279-4464ACB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0E03F-539E-4443-8873-E0E4533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SDK / CLI 双 Runtime 统一接口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003B8-7E06-428A-8E34-363B6B0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4D89B-7C06-4894-B9CA-7A61345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03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Budget / Policy / Validator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0851-3B2B-47A0-B514-D18CA913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1D426-0D5B-42DB-A201-C6612518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Jira + Memory + Retrieval + Skill 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48BBC-09C6-4139-B26A-68A1CC0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1EF3D-FFBB-4353-A338-2D48704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909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JSONL 审计 + OTel 风格属性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AE70C-11C9-4779-A489-E09BFE1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B726D-87BD-4DDE-8340-F4D8975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Auto-Memory 候选提取 + Review 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36D1A-40BA-45F6-B6A4-6C0C6378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33800-5235-43A9-9981-1ABE6EDE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Fleet / Arena deterministic mock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0937A-198E-409F-A633-9160FE4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14288">
            <a:solidFill>
              <a:srgbClr val="C95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8575D-1965-4C8C-9855-CE2DCA18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5FE6D-3605-4C73-8DF2-CB5109CB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050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真实 /fleet worktree fanout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18A4D-A42D-4D60-ADC5-23F8430C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2B35E-57CF-4180-AA36-36B03B37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03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真实 GitLab MR 创建 / push / merge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820C8-2371-48E6-82A3-0C04139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EDD50-F1B1-48AE-9F13-E5010FF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Jira Writer 或状态自动流转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49A54-D604-4B9A-9203-80E740F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B6A93-B8A3-48D9-B611-D7546D75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909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真实 Runner CI 完整执行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C6EDB-0005-4343-9BBE-A79D2A2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DF6A4-8808-4F92-A9B9-98B8C07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862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Memory MCP 生产 single-write cutover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29FB0-AD36-4386-9F62-57EDF1E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29250"/>
            <a:ext cx="861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口径建议：把“已落地”和“愿景设计”讲清楚，可信度比热血更值钱。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55300-7C04-47D2-9CE3-2AEE025F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F3D458-4A20-4335-A6DC-86595131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docs/orchestrator-implementation-current.md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A5E3D-529E-481F-8359-A9B7076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9759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D70D1-A867-4580-AD31-586D804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3FD8-B7CF-454D-99D4-FE9187A7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总架构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27CBC-9C31-497A-A9DA-3FC9B65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Orchestrator 在中间发号施令，专业模块各司其职。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3B906-63B4-4891-ADE0-52CCF30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Entry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Jira / IDE / 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7151E-94E9-4F79-996A-60B65FAB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调度 + 治理中枢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56536-38C2-4E6D-893E-A05D051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Reports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Evidence /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77625-4779-4408-9123-CFED925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A65AE-6D16-45A0-8F8B-0442EA4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cxnSp>
        <p:nvCxnSpPr>
          <p:cNvPr id="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86000" y="3219450"/>
            <a:ext cx="24765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43750" y="3219450"/>
            <a:ext cx="25527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6F822-614F-4B6A-BBBC-B98A196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097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runtime/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SDK / CLI 适配</a:t>
            </a:r>
          </a:p>
        </p:txBody>
      </p:sp>
      <p:cxnSp>
        <p:nvCxnSpPr>
          <p:cNvPr id="12" name=""/>
          <p:cNvCxnSpPr>
            <a:stCxn xmlns:a="http://schemas.openxmlformats.org/drawingml/2006/main" id="5" idx="1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4010025" y="2038350"/>
            <a:ext cx="752475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A300F-2294-4E31-B036-98F4A271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097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gates/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预算 / 策略 / 校验</a:t>
            </a:r>
          </a:p>
        </p:txBody>
      </p:sp>
      <p:cxnSp>
        <p:nvCxnSpPr>
          <p:cNvPr id="14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143750" y="1724025"/>
            <a:ext cx="228600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5F3A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26034-1147-4B27-849D-13C8A5F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63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context/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证据 + 技能 + 检索</a:t>
            </a:r>
          </a:p>
        </p:txBody>
      </p:sp>
      <p:cxnSp>
        <p:nvCxnSpPr>
          <p:cNvPr id="16" name=""/>
          <p:cNvCxnSpPr>
            <a:stCxn xmlns:a="http://schemas.openxmlformats.org/drawingml/2006/main" id="5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4800600" y="3810000"/>
            <a:ext cx="11525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84A2A-94B6-478F-B2C7-21BE19F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768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memory/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hot_index + 审批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953125" y="3810000"/>
            <a:ext cx="1524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9A6E5-6F48-48F9-B371-2A8788C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audit/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JSONL + OTel 属性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3750" y="3219450"/>
            <a:ext cx="266700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C1F68-2B46-4212-9DA6-05ED281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F9EE0-60F9-4B2E-9141-B2CC609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docs/framework/03-architecture-blueprint.md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BE03C-5291-424F-B4E9-98ACD1EC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082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6951F-0722-49CF-B028-99D91AB2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4A7BD-220A-4CB1-ABFB-37ED50B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五目录骨架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7196-CBE7-4864-926C-BC7B84CA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五个目录像一条装配线：谁也别抢别人饭碗。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F1A9D-EBEB-4D51-8C73-3B53B4D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context/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备菜台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Jira / 代码 / 记忆 / Skill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装进结构化上下文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74F22-2507-4A3A-9E9C-3087DD86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38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E5CC5-F9A0-4048-A066-1EBC101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runtime/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发动机舱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统一 SDK / CLI，暴露 hooks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和能力边界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966E2-452A-4A92-B689-C69F72E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38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89510-BA58-49E2-A5FE-8E9EA81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gates/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门禁岗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预算、权限、质量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先过闸再放行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30AF5-84B6-40B2-87B0-527BAB13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1B01F-DF56-4D2C-ABC5-E771836A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812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memory/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批改本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候选知识先 pending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人工 review 后入库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491D9-30F9-4453-BE00-5D4E3FA4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7B4C1-0448-4445-9852-D28B8FB0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812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audit/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黑匣子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成功失败都留痕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方便复盘和追责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995D3-4E71-46D7-9DDC-168D74D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关键原则：它们和 Orchestrator 是“调度 - 被调用”关系，不是五个小 Orchestrator 横向互相串门。串门多了，最后就会变成谁都能审批、谁都能写库、谁都说不清。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BEFBC-247A-4A39-A198-56A3BAE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192A6-15AD-408C-A229-0E14AC96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orchestrator/src/{runtime,gates,context,memory,audit}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484F3-76D0-47E2-848D-333EFDA2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9604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97E6B-30E4-485E-B820-8AAD16E8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C6C61-A139-4537-A263-BC28274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任务时序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8336F-A186-4065-84A2-BC03599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一次任务不是“模型直接开跑”，而是先装保险再上路。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B14A3-F4AA-431A-8F7E-976FA33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装配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A909-236E-4A99-86F2-E3948F8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4305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context.assemble</a:t>
            </a:r>
          </a:p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EvidencePack + hot_index + retrieval + skill hints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3B374-4CDE-4A3C-9747-27DC594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FE859-3971-4C9E-AA1C-038E78D1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38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备菜：先把材料摆齐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A532F-61A8-4324-AFBD-7C35FFF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启动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C7E7C-7363-4044-931C-0E9D2635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runtime.run</a:t>
            </a:r>
          </a:p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SDK/CLI adapter + hooks + model=gpt-5-mini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775F8-7B5C-42B5-89F6-0A3DD28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9DBCE-362E-46F7-B1AD-477A8C5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955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发动：先插好保险丝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0F94B-C0DB-420B-89BF-6E14935F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守门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965B8-AE51-44BF-B871-6F0C641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onToolCall</a:t>
            </a:r>
          </a:p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BudgetGate -&gt; PolicyGate -&gt; tool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3DDF0-3287-4C71-AC3F-68F0B819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000FA-11FB-4E39-B806-4880772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门禁：刷卡不过不放行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BBCDC-6052-4D35-8343-0E7D53B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收尾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523E6-8688-4EF0-98F8-8853880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onTurnEnd</a:t>
            </a:r>
          </a:p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Validator -&gt; Auto-Memory -&gt; AuditLogger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5F16C-1564-438F-83FE-C1A7639E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收银：小票必须能对账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CD347-0C09-404A-8473-F5B51CA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054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891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Hook 反转控制：runtime 不必认识 gates，gates 也不必绑死 runtime。Orchestrator 负责把插头插对。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0FBD6-F709-405E-8805-0540658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6113E-D0F1-4B94-ACE9-1DEE007E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orchestrator/src/runtime/bootstrap.ts + orchestrator/src/context/index.ts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D9A6E-93D0-4A96-9071-AC0AB70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9275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B14EB-8CBF-422C-9298-A94801E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01C65-9B94-4AA2-BF4B-252923BE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A6C6A-94F7-49CA-9BD3-AAB93390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模型可以点菜，但菜单、预算和禁忌由 Orchestrator 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10AD6-3974-4EA6-8369-D09D222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菜单</a:t>
            </a:r>
          </a:p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允许的 tools / 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5D6B-0B7B-4A63-9825-6A23C77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00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模型</a:t>
            </a:r>
          </a:p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输出 tool_calls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D59BB-9A44-4B5F-B94D-B2E264D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双闸门</a:t>
            </a:r>
          </a:p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  <a:p xmlns:a="http://schemas.openxmlformats.org/drawingml/2006/main">
            <a:pPr algn="ctr">
              <a:def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PolicyGate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AD031-92E7-423B-8F97-610F9230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002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工具</a:t>
            </a:r>
          </a:p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真正执行</a:t>
            </a:r>
          </a:p>
        </p:txBody>
      </p:sp>
      <p:cxnSp>
        <p:nvCxnSpPr>
          <p:cNvPr id="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571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856F4-5F38-441A-A66E-C2351E47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cxnSp>
        <p:nvCxnSpPr>
          <p:cNvPr id="1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53150" y="2571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8C7FE-C218-474D-81F5-49ABF361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cxnSp>
        <p:nvCxnSpPr>
          <p:cNvPr id="1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58300" y="2571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3B132-1F95-49FB-A2AE-883B3C8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896A3-F82D-46D7-B547-8167F54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谁决定能吃什么？</a:t>
            </a:r>
          </a:p>
          <a:p xmlns:a="http://schemas.openxmlformats.org/drawingml/2006/main">
            <a:pPr algn="ctr">
              <a:defRPr sz="135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F03D5-2872-4981-9E5F-A2FD758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3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5C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55C7D"/>
                </a:solidFill>
                <a:latin typeface="PingFang SC"/>
                <a:ea typeface="PingFang SC"/>
                <a:cs typeface="PingFang SC"/>
              </a:rPr>
              <a:t>谁决定这口吃什么？</a:t>
            </a:r>
          </a:p>
          <a:p xmlns:a="http://schemas.openxmlformats.org/drawingml/2006/main">
            <a:pPr algn="ctr">
              <a:defRPr sz="1350" b="1">
                <a:solidFill>
                  <a:srgbClr val="355C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55C7D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62CAF-A609-4C32-A674-E28AD058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谁决定能不能端上桌？</a:t>
            </a:r>
          </a:p>
          <a:p xmlns:a="http://schemas.openxmlformats.org/drawingml/2006/main">
            <a:pPr algn="ctr">
              <a:def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0BA75-6D92-4F79-9B7A-9ABDC11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62500"/>
            <a:ext cx="830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压轴金句：模型有“选择权”，Orchestrator 有“否决权”。这不是束缚模型，是给模型装方向盘和刹车。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75B43-C205-4CC3-B5E8-CFDA248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8B02F-1F43-4A06-A9A6-00417270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orchestrator/src/runtime/types.ts ToolCallHook + gates/index.ts PolicyGate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B7BAC-BBE6-4FDF-B66F-6FB28432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7428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79E0E-08B4-43ED-AAFA-7F5F3FE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D403D-A410-41A4-A406-427995EC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路由漏斗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E0D84-E2B7-4474-A3A3-99B8186C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能用规则解决的，别让模型装神秘。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B3E56-71E6-423F-93D0-5371266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6210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第 1 层：规则路由</a:t>
            </a:r>
          </a:p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关键词、issue_type、字段、历史映射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52C75-EE5A-4482-9F8B-717E196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3429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BBF2B-454C-4E4C-BC11-4C6DF34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68605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第 2 层：Profile Spec</a:t>
            </a:r>
          </a:p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业务域固定打法 + Skill 配方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9EEE8-4BCB-44D2-B37D-EA83A12E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29000"/>
            <a:ext cx="3429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7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C5D96-3B68-4C65-B470-8A5E3C5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00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第 3 层：模型软路由</a:t>
            </a:r>
          </a:p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小预算兜底，输出再经 PolicyGate 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AEA7E-7436-4010-9E86-48278E5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14288">
            <a:solidFill>
              <a:srgbClr val="355C7D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当前实现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requirements/router.ts 已有规则型 profile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6BCBD-3051-4C53-A9D6-7E98B01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14288">
            <a:solidFill>
              <a:srgbClr val="355C7D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当前实现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skillAgentLoader.ts 可按语义追加 blood-transfusion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B5839-5C6D-43B5-AB2C-470F5BE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4288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设计延展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Notion 三层漏斗适合作为后续路由治理蓝图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98B60-B9C3-4EBF-A0D8-6557BE8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3CF07-FBB7-4DB3-8D4A-C119D1B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orchestrator/src/requirements/router.ts + runtime/skillAgentLoader.ts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8EED-545E-406E-9A2C-CF4B6D2A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648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89E10-0BE2-4AFF-B8F1-AEEFF00D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4B349-B2A2-42D5-A5FF-948B4FA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四道闸门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48BAE-B1EA-4FFD-98BD-3B62905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从“能运行”到“可控运行”，中间隔着四个不近人情的同事。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925A1-7107-40CA-9F90-07951A8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19050">
            <a:solidFill>
              <a:srgbClr val="C7952F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账房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钱够吗？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toolCalls / tokens / fanout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E349C-E3B2-4A13-996F-BBDB14D3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A1981-439F-44B9-A23D-7062475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19050">
            <a:solidFill>
              <a:srgbClr val="C95F3A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PolicyGate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保安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准进吗？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只读白名单 / 高风险升级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1E9E6-F274-4673-AA02-D3EDF385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01134-8DE1-4EE1-B735-E83EFC9F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19050">
            <a:solidFill>
              <a:srgbClr val="1E5B45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Validator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质检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合格吗？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turn_state / source_ref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2C230-A0B2-4992-82E0-2107515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841F9-C600-4952-BB3A-D856E2F4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19050">
            <a:solidFill>
              <a:srgbClr val="355C7D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AuditLogger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黑匣子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留痕吗？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JSONL / OTel 风格属性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E7281-05D4-4CB7-A762-48C7DD3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8801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209550" tIns="152400" rIns="209550" bIns="152400" anchor="ctr">
            <a:normAutofit fontScale="8469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医疗/企业场景里，AI 不能只靠“今天心情不错”。四道闸门的价值是：失败也要有结构，拦截也要有证据，复盘时不能靠拍脑袋。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A3DF7-6693-4726-A982-9C8A54DB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1D432-F1B9-467A-B1CB-375C5D61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orchestrator/src/gates/index.ts + orchestrator/src/audit/index.ts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5798A-4567-476C-A1E4-A8464255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2997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43C50-902D-4DD5-A9A6-185EC34A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2120-1079-4678-8943-C0CC3684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BEB16-34CA-4FF8-A208-BFB0F54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预算不是单次结账，是整趟旅程的油表。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99BDC-74F6-4AC3-916E-F3DC0D81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fanout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964E-3CAF-453B-A94C-4D51434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62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4F489-0EF5-44EB-A85D-7FF28892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6210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17105-4BBD-4AB3-9B98-9B50D48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66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1/4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7522-62A0-41EF-A1C4-3B9229D7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toolCalls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89D82-F17B-44AC-8FB8-50C4245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FBBFE-ECF5-4C13-ADBF-C16EB56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EA4D7-0B1E-4F36-B0EE-8CACA8F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6/8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9B25E-2F02-4019-91C2-0EEFCEC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inputTokens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2968F-3F87-42F2-A47F-3BDB537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4A66C-27B0-4085-9B33-84C9601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32804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70D78-3FD1-4D22-9EDA-0A963C0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8200/10000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9E95F-4E36-472D-9B4D-36202C28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outputTokens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08AE1-D71B-4B26-BDA7-DEB189B7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45A6E-03A8-4A0F-85DA-4C8B0B2B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11001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ABA0B-26E4-4DE6-9F5C-F1343F3F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1100/4000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16681-A636-4146-96B0-8CCAE734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premiumRequests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40670-8451-4ED8-82FD-3B6413C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7743F-9C53-48E5-AC79-44BB8AD5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2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E53FF-B99E-43AE-B2E6-4A7FFAE4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0/1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6EAD0-9039-4C6F-AD4C-817EFA4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预算内</a:t>
            </a:r>
          </a:p>
          <a:p xmlns:a="http://schemas.openxmlformats.org/drawingml/2006/main">
            <a:pPr algn="ctr">
              <a:defRPr sz="150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allow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2F92B-6F3F-445E-9CCF-869610B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超预算</a:t>
            </a:r>
          </a:p>
          <a:p xmlns:a="http://schemas.openxmlformats.org/drawingml/2006/main">
            <a:pPr algn="ctr">
              <a:def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blocked</a:t>
            </a:r>
          </a:p>
          <a:p xmlns:a="http://schemas.openxmlformats.org/drawingml/2006/main">
            <a:pPr algn="ctr">
              <a:def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5F3A"/>
                </a:solidFill>
                <a:latin typeface="PingFang SC"/>
                <a:ea typeface="PingFang SC"/>
                <a:cs typeface="PingFang SC"/>
              </a:rPr>
              <a:t>partial-result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6D303-91CB-4089-9229-A1D9100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BudgetGate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逐项校验</a:t>
            </a:r>
          </a:p>
        </p:txBody>
      </p:sp>
      <p:cxnSp>
        <p:nvCxnSpPr>
          <p:cNvPr id="27" name=""/>
          <p:cNvCxnSpPr>
            <a:stCxn xmlns:a="http://schemas.openxmlformats.org/drawingml/2006/main" id="2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9448800" y="1914525"/>
            <a:ext cx="3619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48800" y="2714625"/>
            <a:ext cx="3619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5F3A"/>
            </a:solidFill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C735A0-AD05-42F8-89B1-9D44F84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79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73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类比：不是“这杯奶茶贵不贵”，而是“今天这张报销单还能不能签”。超限时返回结构化半成品，不把上游炸成 500。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DBE0B-B731-4418-84AF-9EB6FB9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37FB3-B81D-4A12-963C-FC244B36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DEFAULT_GATES_CONFIG + toBudgetOverrunPartialResultV1 in gates/index.ts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0268C-DEDA-47BC-8D07-BEEFC57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6300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2A685-AC69-414B-B73C-5AA247A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2F226-B998-40DA-8F5C-E607F5DB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Auto-Memory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35EC-FCA2-487E-9E60-975470B4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AI 可以递小纸条，但不能自己把小纸条贴成公司制度。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69D9D-394B-4FBA-8D1D-2622C09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Turn done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有 source_ref 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E455E-628F-4181-B86E-2132112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Harvester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提取候选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置信度 + 新颖度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CD1EE-4CD8-4D3C-B4A4-51093E8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35F1F-257F-48E8-AFDF-DDD92BA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Pending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候选队列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等待人工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225BD-687F-4993-993D-5F47C4DB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0BE6A-6E6C-4605-A7BE-096C69F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Review CLI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审批 / 编辑 / 拒绝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冲突 + redline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F4286-68B0-4E96-A9B8-C2F42B7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9BC8E-58E2-46C1-A871-3747083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47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MemoryStore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SQLite + hot_index</a:t>
            </a:r>
          </a:p>
          <a:p xmlns:a="http://schemas.openxmlformats.org/drawingml/2006/main">
            <a:pPr algn="ctr">
              <a:def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下轮注入上下文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75C47-3310-49FF-A5EF-A5E8C9B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40B52-F252-4FB4-9219-928762DF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hot_index_then_lazy_search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把“批准过的经验”重新喂给 context</a:t>
            </a:r>
          </a:p>
        </p:txBody>
      </p:sp>
      <p:cxnSp>
        <p:nvCxnSpPr>
          <p:cNvPr id="14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343150" y="2781300"/>
            <a:ext cx="2114550" cy="1704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8BA37-C4C4-47EF-9B64-6948CEDD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899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267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红线：没有 source_ref 不收；敏感内容不过 redline；写入前必须人工审批。错题本可以自动整理，但不能自动盖章。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A9A1D-388B-44EB-8E0F-933A2AE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44857-1641-4F97-800C-D024FE0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automemory/harvester.ts + reviewCli.ts + memory/index.ts + context/index.ts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E9711-15A8-42D8-9B29-6C470FD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1839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6B9B4-5239-4FCD-B16C-D98CE6BE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B44FB-C433-4B13-B77D-A0F2CA9B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Fleet /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41912-4731-4FE4-92E1-09F7AF6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多 Agent 不是一拥而上，而是先在模拟赛里卷出可靠答案。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3F453-E5DF-4865-95D5-CB3EB35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planner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拆 3-7 个步骤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7A5AA-0F65-46F8-A094-3E1BF75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621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implementer 1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匿名 diff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8C2F4-2C77-4BAB-A381-FD82614C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implementer 2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匿名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A8858-BEB8-426D-B469-9A5553BA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957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implementer 3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匿名 diff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DF77C-9A23-4AA6-BF69-E6744B4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Arena critic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correctness / tests / diff / style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双跑一致性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66C5B-D675-46A1-B1D7-EDCF401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reviewer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draft artifact only</a:t>
            </a:r>
          </a:p>
        </p:txBody>
      </p:sp>
      <p:cxnSp>
        <p:nvCxnSpPr>
          <p:cNvPr id="1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324100" y="1933575"/>
            <a:ext cx="9525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86350" y="1933575"/>
            <a:ext cx="110490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24100" y="3000375"/>
            <a:ext cx="9525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86350" y="3000375"/>
            <a:ext cx="11049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24100" y="3190875"/>
            <a:ext cx="9525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086350" y="3048000"/>
            <a:ext cx="110490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A096"/>
            </a:solidFill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91500" y="3048000"/>
            <a:ext cx="11430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5B45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5D039-60F6-44F1-BC98-E7A8FA4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670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E25C2-127B-4872-A22D-E8D581E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9CB45-8B5B-4F13-91B1-9D85E808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7391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当前状态：worktreeMode=mock，realFanout=real_disabled，realMergeRequest=real_disabled。先把裁判和规则练稳，再让选手真上场。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EE562-84E1-4B2E-A8A4-8DD5192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1FE70-0D47-45EB-9E09-C5D9CB6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orchestrator/src/fleet/coordinator.ts + arenaScorer.ts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07903-35C3-40EB-BBD5-C4F83018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4079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A8567-50F5-4C6F-A134-1AAC1B3D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CF11E-250C-4B17-97CA-9E36173C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市场姿态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85D1E-1907-4BC8-A5EC-BD2ABD1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我们不和 Agent 框架比谁更会跑，而是补企业最缺的治理层。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CF874-DDFB-49F9-AA4A-AA78649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621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ADC58-26A3-4B5D-A128-483DBA4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C3F31-358A-4FAA-8201-273C67C3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482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BE54A-5376-4165-8863-71AFB7C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企业治理强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64A8E-D274-43EB-A1CD-ECB70077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5C7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5C7D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defRPr sz="1275" b="1">
                <a:solidFill>
                  <a:srgbClr val="355C7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5C7D"/>
                </a:solidFill>
                <a:latin typeface="PingFang SC"/>
                <a:ea typeface="PingFang SC"/>
                <a:cs typeface="PingFang SC"/>
              </a:rPr>
              <a:t>能力强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15352-BC7A-4FD3-9045-0B55AFF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3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通用 Agent 框架</a:t>
            </a:r>
          </a:p>
          <a:p xmlns:a="http://schemas.openxmlformats.org/drawingml/2006/main">
            <a:pPr algn="ctr">
              <a:def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会跑、会编排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A7A4C-6476-4E4B-8104-A652219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949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Copilot-Harness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Budget / Policy / Evidence / Audit /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7EF70-0EB6-4672-B28C-5510C118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标准与模式</a:t>
            </a:r>
          </a:p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MCP / OTel / Orchestrator-Workers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33F4F-F9AD-4337-BD28-D801FC59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90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387DE-E6DD-42D7-8837-EFA4932D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cxnSp>
        <p:nvCxnSpPr>
          <p:cNvPr id="1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72125" y="2195513"/>
            <a:ext cx="100012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952F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27392-1297-41A8-9E25-379DC0F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880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14300" tIns="85725" rIns="11430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一句话：底层能力尽量借标准，企业护栏必须自己做厚。因为出了事，框架不会来帮你写复盘。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0BC71-FEE7-4280-A05D-BFE51D27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6B65B-097F-45A3-9CCB-ACB1F056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Notion source narrative + package.json deps: @modelcontextprotocol/sdk, @opentelemetry/api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F0DC4-9708-4AE7-9946-1351FCC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2527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F9964-5092-4D50-8F84-01C7D1FB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BC6D3-43AB-48D5-9A57-F02FF5B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BFAA1-718B-4832-A88B-76A993F7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下一步不是“更大胆”，而是“更可验收”。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B8E0B-53FF-4EF4-8801-D962B457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04775" tIns="76200" rIns="104775" bIns="76200" anchor="ctr">
            <a:normAutofit fontScale="9760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1. 刷新展示与口径</a:t>
            </a:r>
          </a:p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showcase snapshot + W8 final PASS release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340DA-D356-4CEC-A635-E82D6E8A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62DE8-C716-4787-AB3E-6EEEB47F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04775" tIns="76200" rIns="1047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2. 接通 Runner</a:t>
            </a:r>
          </a:p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完成 W11 live CI 三闸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DD3CD-C5D1-432F-9C1F-F20A679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CEF65-6026-4BCD-A8FC-49779ED8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04775" tIns="76200" rIns="1047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3. 验证 Memory cutover</a:t>
            </a:r>
          </a:p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真实 dual-write drift 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54481-8C4D-4160-B82A-0B0BA55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83B53-FCEE-4689-B8EE-DD7B92A8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384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8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04775" tIns="76200" rIns="1047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4. 先只读 Resolver</a:t>
            </a:r>
          </a:p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缺证据就 await_human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FCDC6-1E84-47C0-A48C-D5592313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8FB84-2068-47B4-9604-015957A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7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104775" tIns="76200" rIns="1047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5. 再考虑 Draft MR</a:t>
            </a:r>
          </a:p>
          <a:p xmlns:a="http://schemas.openxmlformats.org/drawingml/2006/main">
            <a:pPr algn="ctr">
              <a:def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1B"/>
                </a:solidFill>
                <a:latin typeface="PingFang SC"/>
                <a:ea typeface="PingFang SC"/>
                <a:cs typeface="PingFang SC"/>
              </a:rPr>
              <a:t>写回必须在 Policy Gate 后面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87D1-722C-4E2E-99EA-17D0EA94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9182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A9A096"/>
            </a:solidFill>
          </a:ln>
        </p:spPr>
        <p:txBody>
          <a:bodyPr xmlns:a="http://schemas.openxmlformats.org/drawingml/2006/main" wrap="square" lIns="228600" tIns="171450" rIns="228600" bIns="171450" anchor="ctr">
            <a:normAutofit fontScale="8064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压轴：我们不在 Agent 能力上重复造轮子，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我们在 Agent 治理上独立造护栏。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F04BA-1A74-4BBC-A727-76CC62B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34000"/>
            <a:ext cx="746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5B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E5B45"/>
                </a:solidFill>
                <a:latin typeface="PingFang SC"/>
                <a:ea typeface="PingFang SC"/>
                <a:cs typeface="PingFang SC"/>
              </a:rPr>
              <a:t>不是给模型戴手铐，是给模型装方向盘、刹车和行车记录仪。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F44D8-493F-478B-8719-1D58CC4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3A3F5-8DAD-4E7A-A33B-7E5BED5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Evidence: docs/orchestrator-implementation-current.md section 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34A0F-A88D-4A61-9D90-2A70B0F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25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8625A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7037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2026-05-24T13:41:56.0550000Z</dcterms:created>
  <dcterms:modified xsi:type="dcterms:W3CDTF">2026-05-24T13:41:56.0560000Z</dcterms:modified>
</coreProperties>
</file>