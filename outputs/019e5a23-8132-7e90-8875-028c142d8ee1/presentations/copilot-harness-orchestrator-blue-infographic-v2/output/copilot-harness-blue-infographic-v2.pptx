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d09e79c7d24d57" /><Relationship Type="http://schemas.openxmlformats.org/officeDocument/2006/relationships/extended-properties" Target="/docProps/app.xml" Id="R8ae6a90db428443f" /><Relationship Type="http://schemas.openxmlformats.org/officeDocument/2006/relationships/officeDocument" Target="/ppt/presentation.xml" Id="Rd2ca0998530d4f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be962a799d45e4"/>
  </p:sldMasterIdLst>
  <p:notesMasterIdLst>
    <p:notesMasterId xmlns:r="http://schemas.openxmlformats.org/officeDocument/2006/relationships" r:id="R31470560f0c04cc5"/>
  </p:notesMasterIdLst>
  <p:sldIdLst>
    <p:sldId xmlns:r="http://schemas.openxmlformats.org/officeDocument/2006/relationships" id="256" r:id="R2283e584074a4afa"/>
    <p:sldId xmlns:r="http://schemas.openxmlformats.org/officeDocument/2006/relationships" id="257" r:id="Ra83ddce2fdd3443f"/>
    <p:sldId xmlns:r="http://schemas.openxmlformats.org/officeDocument/2006/relationships" id="258" r:id="R95d399256d504faf"/>
    <p:sldId xmlns:r="http://schemas.openxmlformats.org/officeDocument/2006/relationships" id="259" r:id="Rf3f30d17b10449a3"/>
    <p:sldId xmlns:r="http://schemas.openxmlformats.org/officeDocument/2006/relationships" id="260" r:id="R3d080a06435644b1"/>
    <p:sldId xmlns:r="http://schemas.openxmlformats.org/officeDocument/2006/relationships" id="261" r:id="R35a00349d8f547bd"/>
    <p:sldId xmlns:r="http://schemas.openxmlformats.org/officeDocument/2006/relationships" id="262" r:id="Rea5add5e299946f0"/>
    <p:sldId xmlns:r="http://schemas.openxmlformats.org/officeDocument/2006/relationships" id="263" r:id="R586a8425ba6d4238"/>
    <p:sldId xmlns:r="http://schemas.openxmlformats.org/officeDocument/2006/relationships" id="264" r:id="R721298afbfd54cfb"/>
    <p:sldId xmlns:r="http://schemas.openxmlformats.org/officeDocument/2006/relationships" id="265" r:id="Rf9a8fa9e0b36494a"/>
    <p:sldId xmlns:r="http://schemas.openxmlformats.org/officeDocument/2006/relationships" id="266" r:id="R0230ce5104fa4809"/>
    <p:sldId xmlns:r="http://schemas.openxmlformats.org/officeDocument/2006/relationships" id="267" r:id="R12b734d76b5745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be962a799d45e4" /><Relationship Type="http://schemas.openxmlformats.org/officeDocument/2006/relationships/theme" Target="/ppt/theme/theme1.xml" Id="R8f5e5f4a9f2945ba" /><Relationship Type="http://schemas.openxmlformats.org/officeDocument/2006/relationships/notesMaster" Target="/ppt/notesMasters/notesMaster1.xml" Id="R31470560f0c04cc5" /><Relationship Type="http://schemas.openxmlformats.org/officeDocument/2006/relationships/presProps" Target="/ppt/presProps.xml" Id="R173a255f302f4842" /><Relationship Type="http://schemas.openxmlformats.org/officeDocument/2006/relationships/viewProps" Target="/ppt/viewProps.xml" Id="Rec971849b98149af" /><Relationship Type="http://schemas.openxmlformats.org/officeDocument/2006/relationships/tableStyles" Target="/ppt/tableStyles.xml" Id="R57059ffa672b4d20" /><Relationship Type="http://schemas.openxmlformats.org/officeDocument/2006/relationships/slide" Target="/ppt/slides/slide1.xml" Id="R2283e584074a4afa" /><Relationship Type="http://schemas.openxmlformats.org/officeDocument/2006/relationships/slide" Target="/ppt/slides/slide2.xml" Id="Ra83ddce2fdd3443f" /><Relationship Type="http://schemas.openxmlformats.org/officeDocument/2006/relationships/slide" Target="/ppt/slides/slide3.xml" Id="R95d399256d504faf" /><Relationship Type="http://schemas.openxmlformats.org/officeDocument/2006/relationships/slide" Target="/ppt/slides/slide4.xml" Id="Rf3f30d17b10449a3" /><Relationship Type="http://schemas.openxmlformats.org/officeDocument/2006/relationships/slide" Target="/ppt/slides/slide5.xml" Id="R3d080a06435644b1" /><Relationship Type="http://schemas.openxmlformats.org/officeDocument/2006/relationships/slide" Target="/ppt/slides/slide6.xml" Id="R35a00349d8f547bd" /><Relationship Type="http://schemas.openxmlformats.org/officeDocument/2006/relationships/slide" Target="/ppt/slides/slide7.xml" Id="Rea5add5e299946f0" /><Relationship Type="http://schemas.openxmlformats.org/officeDocument/2006/relationships/slide" Target="/ppt/slides/slide8.xml" Id="R586a8425ba6d4238" /><Relationship Type="http://schemas.openxmlformats.org/officeDocument/2006/relationships/slide" Target="/ppt/slides/slide9.xml" Id="R721298afbfd54cfb" /><Relationship Type="http://schemas.openxmlformats.org/officeDocument/2006/relationships/slide" Target="/ppt/slides/slide10.xml" Id="Rf9a8fa9e0b36494a" /><Relationship Type="http://schemas.openxmlformats.org/officeDocument/2006/relationships/slide" Target="/ppt/slides/slide11.xml" Id="R0230ce5104fa4809" /><Relationship Type="http://schemas.openxmlformats.org/officeDocument/2006/relationships/slide" Target="/ppt/slides/slide12.xml" Id="R12b734d76b5745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f6cefe5921343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0ff7f8bdc343a9" /><Relationship Type="http://schemas.openxmlformats.org/officeDocument/2006/relationships/notesMaster" Target="/ppt/notesMasters/notesMaster1.xml" Id="Rc8b8ac6d0eac46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b79b2ebc894689" /><Relationship Type="http://schemas.openxmlformats.org/officeDocument/2006/relationships/notesMaster" Target="/ppt/notesMasters/notesMaster1.xml" Id="Rbd242c5f62a74b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fe9f0e2e2b4329" /><Relationship Type="http://schemas.openxmlformats.org/officeDocument/2006/relationships/notesMaster" Target="/ppt/notesMasters/notesMaster1.xml" Id="R91e5995308d04f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aa465a8c6a4336" /><Relationship Type="http://schemas.openxmlformats.org/officeDocument/2006/relationships/notesMaster" Target="/ppt/notesMasters/notesMaster1.xml" Id="Rdaa9490b66554e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550031288945bc" /><Relationship Type="http://schemas.openxmlformats.org/officeDocument/2006/relationships/notesMaster" Target="/ppt/notesMasters/notesMaster1.xml" Id="R69030e3a76414c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538407a0114925" /><Relationship Type="http://schemas.openxmlformats.org/officeDocument/2006/relationships/notesMaster" Target="/ppt/notesMasters/notesMaster1.xml" Id="R8c8fcdca5f8e45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4a039af58b461d" /><Relationship Type="http://schemas.openxmlformats.org/officeDocument/2006/relationships/notesMaster" Target="/ppt/notesMasters/notesMaster1.xml" Id="Rb31732a90bde42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000e0e61bc4697" /><Relationship Type="http://schemas.openxmlformats.org/officeDocument/2006/relationships/notesMaster" Target="/ppt/notesMasters/notesMaster1.xml" Id="R40cf722206b142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723b25d8d94012" /><Relationship Type="http://schemas.openxmlformats.org/officeDocument/2006/relationships/notesMaster" Target="/ppt/notesMasters/notesMaster1.xml" Id="R622bef92989242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3d03228442406a" /><Relationship Type="http://schemas.openxmlformats.org/officeDocument/2006/relationships/notesMaster" Target="/ppt/notesMasters/notesMaster1.xml" Id="R4fae642cf84249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c1445c9e034974" /><Relationship Type="http://schemas.openxmlformats.org/officeDocument/2006/relationships/notesMaster" Target="/ppt/notesMasters/notesMaster1.xml" Id="R5075c82ed5fd49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07fb3a6cc54276" /><Relationship Type="http://schemas.openxmlformats.org/officeDocument/2006/relationships/notesMaster" Target="/ppt/notesMasters/notesMaster1.xml" Id="Rcf7d8c86aea145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新版先不急着讲 Copilot-Harness。先讲 Harness：模型像一台很猛的发动机，但发动机放在桌上不能上路。Harness 做的，是给它装底盘、方向盘、刹车、仪表盘和行车记录仪。这样 AI 才不只是“能跑”，而是能稳定交付。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 不是更大的 prompt，也不是把模型包一层 UI。它是让模型进入企业流程的系统层：执行环境、工具菜单、证据、预算、权限、审计、记忆和人工 review。类比做饭：模型会炒菜，但 Harness 管菜谱、食材、厨房权限、出餐质检和小票。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有了 Harness 的概念，再看 Copilot-Harness 就清楚了：它不重造 Copilot，而是在 Copilot 外面补企业控制面。执行壳负责让任务稳定跑；认知脑负责把经验变成 Skill 和 Memory；安全网负责预算、策略、验证和审计。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经验资产不是一坨“历史资料”。它要分层：Skill 是方法论，Memory 是已验证事实，MCP 是受控取证能力，Eval 是回归验证。类比一个研发知识库：方法、事实、取证工具、考试卷，各放各的位置，下一次才能真复用。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这页是完整闭环：Jira 需求进来，MCP 取证，Evidence Pack 打包，Skill 路由，Agent 输出，人工 Review，Correction 候选，Memory 写入，Eval 回归。每一次交付都不是结束，而是给下一次任务多铺一块路。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Orchestrator 是中控塔。它不替模型思考，也不替工具干活。它决定任务走哪条链路、菜单里有哪些工具、状态怎么延续、哪个节点过 Budget/Policy/Validator/Audit、失败时重试、降级还是转人工。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Runtime 是执行壳，像发动机舱加变速箱。上层只认 AgentRuntime 接口，底层可以是 SDK 或 CLI。外部执行是否打开、能不能 spawn、能不能 resume，都要结构化暴露，不假装支持。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 和 EvidencePack 是“备菜台”和“证据袋”。先把 Jira、代码片段、Memory hot_index、Skill hint 拼成结构化上下文；每条关键事实都带 source_ref。没有证据就说缺证据，不靠模型脑补模块结论。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工具调用用餐厅比喻最容易讲：Orchestrator 摆菜单，模型点菜并写参数，BudgetGate 看钱包，PolicyGate 看禁忌，工具才进厨房执行。模型有选择权，但 Orchestrator 有否决权。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四道门是企业级 AI 的分水岭：BudgetGate 管钱，PolicyGate 管权限，Validator 管质量，AuditLogger 管留痕。它们让系统从“能跑一次 demo”变成“出了问题能复盘、能追责、能改进”。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Memory 飞轮不是 AI 自动写祖训，而是错题本流程。Harvester 只提候选；Review CLI 里人工批准；通过后进 MemoryStore；下一次以 hot_index 注入上下文；再用 Eval 看质量是否稳定。经验由此复利增长。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最后回到当前工程：控制面骨架已经落地，但生产写回还在门禁后面。下一步不是更大胆，而是更可验收：先 Runner、再 Memory cutover、再只读 Resolver，最后才考虑 Draft MR 写回。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b60854af7482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0898990c67443cc" /><Relationship Type="http://schemas.openxmlformats.org/officeDocument/2006/relationships/slideLayout" Target="/ppt/slideLayouts/slideLayout2.xml" Id="Rc72d2f2c271a4f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2d2f2c271a4f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6ab4572a224a4c" /><Relationship Type="http://schemas.openxmlformats.org/officeDocument/2006/relationships/image" Target="/ppt/media/image.png" Id="Rdea8110c344b4772" /><Relationship Type="http://schemas.openxmlformats.org/officeDocument/2006/relationships/image" Target="/ppt/media/image.svg" Id="Rbca61a74c0d84014" /><Relationship Type="http://schemas.openxmlformats.org/officeDocument/2006/relationships/image" Target="/ppt/media/image2.png" Id="Rbb3c3c1b8d274793" /><Relationship Type="http://schemas.openxmlformats.org/officeDocument/2006/relationships/image" Target="/ppt/media/image2.svg" Id="R42bfc5101e994dae" /><Relationship Type="http://schemas.openxmlformats.org/officeDocument/2006/relationships/image" Target="/ppt/media/image3.png" Id="R17db812de69f4024" /><Relationship Type="http://schemas.openxmlformats.org/officeDocument/2006/relationships/image" Target="/ppt/media/image3.svg" Id="R2f28afe7e926408b" /><Relationship Type="http://schemas.openxmlformats.org/officeDocument/2006/relationships/image" Target="/ppt/media/image4.png" Id="Rbe4273c7c6524dcd" /><Relationship Type="http://schemas.openxmlformats.org/officeDocument/2006/relationships/image" Target="/ppt/media/image4.svg" Id="R3d2cae60c0cb4d4a" /><Relationship Type="http://schemas.openxmlformats.org/officeDocument/2006/relationships/image" Target="/ppt/media/image5.png" Id="R6bb8f849e6f6406d" /><Relationship Type="http://schemas.openxmlformats.org/officeDocument/2006/relationships/image" Target="/ppt/media/image5.svg" Id="R0c4bf5fa8eb74c44" /><Relationship Type="http://schemas.openxmlformats.org/officeDocument/2006/relationships/image" Target="/ppt/media/image6.png" Id="R3bed2e587f7b4bf9" /><Relationship Type="http://schemas.openxmlformats.org/officeDocument/2006/relationships/image" Target="/ppt/media/image6.svg" Id="R912089296c724d5a" /><Relationship Type="http://schemas.openxmlformats.org/officeDocument/2006/relationships/notesSlide" Target="/ppt/notesSlides/notesSlide1.xml" Id="Ra27bd1197e1443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6eea1692004d37" /><Relationship Type="http://schemas.openxmlformats.org/officeDocument/2006/relationships/image" Target="/ppt/media/image7.png" Id="R5365632541fe475c" /><Relationship Type="http://schemas.openxmlformats.org/officeDocument/2006/relationships/image" Target="/ppt/media/image7.svg" Id="Rd068075e05b749a1" /><Relationship Type="http://schemas.openxmlformats.org/officeDocument/2006/relationships/image" Target="/ppt/media/image8.png" Id="R5976040f88db4229" /><Relationship Type="http://schemas.openxmlformats.org/officeDocument/2006/relationships/image" Target="/ppt/media/image8.svg" Id="Rb2bfd5d69d57421c" /><Relationship Type="http://schemas.openxmlformats.org/officeDocument/2006/relationships/notesSlide" Target="/ppt/notesSlides/notesSlide2.xml" Id="Rd0a8f7beb3bc43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410d7c4f4f4c5b" /><Relationship Type="http://schemas.openxmlformats.org/officeDocument/2006/relationships/image" Target="/ppt/media/image9.png" Id="Rb435815062204539" /><Relationship Type="http://schemas.openxmlformats.org/officeDocument/2006/relationships/image" Target="/ppt/media/image9.svg" Id="R45c276334a1f457c" /><Relationship Type="http://schemas.openxmlformats.org/officeDocument/2006/relationships/image" Target="/ppt/media/image10.png" Id="R7827aed812d74b03" /><Relationship Type="http://schemas.openxmlformats.org/officeDocument/2006/relationships/image" Target="/ppt/media/image10.svg" Id="R91d45c92bd6e4a4e" /><Relationship Type="http://schemas.openxmlformats.org/officeDocument/2006/relationships/image" Target="/ppt/media/image11.png" Id="R6f0c738d9e1841d4" /><Relationship Type="http://schemas.openxmlformats.org/officeDocument/2006/relationships/image" Target="/ppt/media/image11.svg" Id="R4f8b2a2b96c1467a" /><Relationship Type="http://schemas.openxmlformats.org/officeDocument/2006/relationships/image" Target="/ppt/media/image12.png" Id="R1c4b1735b8a4448c" /><Relationship Type="http://schemas.openxmlformats.org/officeDocument/2006/relationships/image" Target="/ppt/media/image12.svg" Id="R1799693166354028" /><Relationship Type="http://schemas.openxmlformats.org/officeDocument/2006/relationships/image" Target="/ppt/media/image13.png" Id="R0cfda6c01f884eac" /><Relationship Type="http://schemas.openxmlformats.org/officeDocument/2006/relationships/image" Target="/ppt/media/image13.svg" Id="Re9c73d97fb4146f1" /><Relationship Type="http://schemas.openxmlformats.org/officeDocument/2006/relationships/image" Target="/ppt/media/image14.png" Id="R3b31a6861c00437b" /><Relationship Type="http://schemas.openxmlformats.org/officeDocument/2006/relationships/image" Target="/ppt/media/image14.svg" Id="R10a60cc91c4f4408" /><Relationship Type="http://schemas.openxmlformats.org/officeDocument/2006/relationships/notesSlide" Target="/ppt/notesSlides/notesSlide3.xml" Id="Rdf8aeb2e26c948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bed245fda7499c" /><Relationship Type="http://schemas.openxmlformats.org/officeDocument/2006/relationships/image" Target="/ppt/media/image15.png" Id="R51fa567b167644be" /><Relationship Type="http://schemas.openxmlformats.org/officeDocument/2006/relationships/image" Target="/ppt/media/image15.svg" Id="R2d8042e1956b4515" /><Relationship Type="http://schemas.openxmlformats.org/officeDocument/2006/relationships/image" Target="/ppt/media/image16.png" Id="Rf20fd2b56dc94d3a" /><Relationship Type="http://schemas.openxmlformats.org/officeDocument/2006/relationships/image" Target="/ppt/media/image16.svg" Id="R281566bdb5eb4852" /><Relationship Type="http://schemas.openxmlformats.org/officeDocument/2006/relationships/image" Target="/ppt/media/image17.png" Id="R6c3f91aec9894020" /><Relationship Type="http://schemas.openxmlformats.org/officeDocument/2006/relationships/image" Target="/ppt/media/image17.svg" Id="R1a58d11d1034457f" /><Relationship Type="http://schemas.openxmlformats.org/officeDocument/2006/relationships/image" Target="/ppt/media/image18.png" Id="R56f736513cbb4da2" /><Relationship Type="http://schemas.openxmlformats.org/officeDocument/2006/relationships/image" Target="/ppt/media/image18.svg" Id="R3be27dafdca44e49" /><Relationship Type="http://schemas.openxmlformats.org/officeDocument/2006/relationships/image" Target="/ppt/media/image19.png" Id="R31e329f3532a4aaf" /><Relationship Type="http://schemas.openxmlformats.org/officeDocument/2006/relationships/image" Target="/ppt/media/image19.svg" Id="R2087ff564ee847b4" /><Relationship Type="http://schemas.openxmlformats.org/officeDocument/2006/relationships/image" Target="/ppt/media/image20.png" Id="Rcd2250d564544585" /><Relationship Type="http://schemas.openxmlformats.org/officeDocument/2006/relationships/image" Target="/ppt/media/image20.svg" Id="R64ddfffbcb3a4d55" /><Relationship Type="http://schemas.openxmlformats.org/officeDocument/2006/relationships/notesSlide" Target="/ppt/notesSlides/notesSlide4.xml" Id="R31ce1277b84d43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6b9f3fe4ab4687" /><Relationship Type="http://schemas.openxmlformats.org/officeDocument/2006/relationships/image" Target="/ppt/media/image21.png" Id="Ra56dcfde2a6b4a9e" /><Relationship Type="http://schemas.openxmlformats.org/officeDocument/2006/relationships/image" Target="/ppt/media/image21.svg" Id="R47283af7efe34e0d" /><Relationship Type="http://schemas.openxmlformats.org/officeDocument/2006/relationships/image" Target="/ppt/media/image22.png" Id="Ra41b341211184aae" /><Relationship Type="http://schemas.openxmlformats.org/officeDocument/2006/relationships/image" Target="/ppt/media/image22.svg" Id="R7db5ff6e89d543d0" /><Relationship Type="http://schemas.openxmlformats.org/officeDocument/2006/relationships/image" Target="/ppt/media/image23.png" Id="R690aaade2c3a4f88" /><Relationship Type="http://schemas.openxmlformats.org/officeDocument/2006/relationships/image" Target="/ppt/media/image23.svg" Id="R8302bd359b0d429f" /><Relationship Type="http://schemas.openxmlformats.org/officeDocument/2006/relationships/image" Target="/ppt/media/image24.png" Id="Rde9845b7d45849ad" /><Relationship Type="http://schemas.openxmlformats.org/officeDocument/2006/relationships/image" Target="/ppt/media/image24.svg" Id="Rf22116ed9e164a9f" /><Relationship Type="http://schemas.openxmlformats.org/officeDocument/2006/relationships/image" Target="/ppt/media/image25.png" Id="Rb1c0af791bbf4287" /><Relationship Type="http://schemas.openxmlformats.org/officeDocument/2006/relationships/image" Target="/ppt/media/image25.svg" Id="R78aef5bc732641ec" /><Relationship Type="http://schemas.openxmlformats.org/officeDocument/2006/relationships/image" Target="/ppt/media/image26.png" Id="R174963c10c174bdb" /><Relationship Type="http://schemas.openxmlformats.org/officeDocument/2006/relationships/image" Target="/ppt/media/image26.svg" Id="Rbedb5559e458495d" /><Relationship Type="http://schemas.openxmlformats.org/officeDocument/2006/relationships/image" Target="/ppt/media/image27.png" Id="Rd5b9f36b92df4a6b" /><Relationship Type="http://schemas.openxmlformats.org/officeDocument/2006/relationships/image" Target="/ppt/media/image27.svg" Id="Rca6b345bd0624fa4" /><Relationship Type="http://schemas.openxmlformats.org/officeDocument/2006/relationships/image" Target="/ppt/media/image28.png" Id="R166d526ba7404eee" /><Relationship Type="http://schemas.openxmlformats.org/officeDocument/2006/relationships/image" Target="/ppt/media/image28.svg" Id="Ra53d0f2bd1644059" /><Relationship Type="http://schemas.openxmlformats.org/officeDocument/2006/relationships/image" Target="/ppt/media/image29.png" Id="Ra5861295b7b64f12" /><Relationship Type="http://schemas.openxmlformats.org/officeDocument/2006/relationships/image" Target="/ppt/media/image29.svg" Id="Ra708064bd6ed4d2a" /><Relationship Type="http://schemas.openxmlformats.org/officeDocument/2006/relationships/image" Target="/ppt/media/image30.png" Id="R6250f57f8f1f4963" /><Relationship Type="http://schemas.openxmlformats.org/officeDocument/2006/relationships/image" Target="/ppt/media/image30.svg" Id="Rcd155c38c7c145fd" /><Relationship Type="http://schemas.openxmlformats.org/officeDocument/2006/relationships/image" Target="/ppt/media/image31.png" Id="R06bc013b17d14181" /><Relationship Type="http://schemas.openxmlformats.org/officeDocument/2006/relationships/image" Target="/ppt/media/image31.svg" Id="R3099357c26d44900" /><Relationship Type="http://schemas.openxmlformats.org/officeDocument/2006/relationships/image" Target="/ppt/media/image32.png" Id="R25ad81759bf647a0" /><Relationship Type="http://schemas.openxmlformats.org/officeDocument/2006/relationships/image" Target="/ppt/media/image32.svg" Id="Rdde0227d1e2a4617" /><Relationship Type="http://schemas.openxmlformats.org/officeDocument/2006/relationships/notesSlide" Target="/ppt/notesSlides/notesSlide5.xml" Id="R5ab29c21ea4549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4a9dbacfa2441d" /><Relationship Type="http://schemas.openxmlformats.org/officeDocument/2006/relationships/image" Target="/ppt/media/image33.png" Id="Re737a02349d442da" /><Relationship Type="http://schemas.openxmlformats.org/officeDocument/2006/relationships/image" Target="/ppt/media/image33.svg" Id="R755b6971ed944021" /><Relationship Type="http://schemas.openxmlformats.org/officeDocument/2006/relationships/image" Target="/ppt/media/image34.png" Id="Rd217f110ae0c4123" /><Relationship Type="http://schemas.openxmlformats.org/officeDocument/2006/relationships/image" Target="/ppt/media/image34.svg" Id="R2fd29cf5179b4fd2" /><Relationship Type="http://schemas.openxmlformats.org/officeDocument/2006/relationships/image" Target="/ppt/media/image35.png" Id="R3af0a437d1d14dc1" /><Relationship Type="http://schemas.openxmlformats.org/officeDocument/2006/relationships/image" Target="/ppt/media/image35.svg" Id="R839536fbd6ff4bb4" /><Relationship Type="http://schemas.openxmlformats.org/officeDocument/2006/relationships/image" Target="/ppt/media/image36.png" Id="R954a50339cbc4800" /><Relationship Type="http://schemas.openxmlformats.org/officeDocument/2006/relationships/image" Target="/ppt/media/image36.svg" Id="R55f3be63deb94e4a" /><Relationship Type="http://schemas.openxmlformats.org/officeDocument/2006/relationships/image" Target="/ppt/media/image37.png" Id="R8247a4174a934082" /><Relationship Type="http://schemas.openxmlformats.org/officeDocument/2006/relationships/image" Target="/ppt/media/image37.svg" Id="R07cf7d6f488b4e62" /><Relationship Type="http://schemas.openxmlformats.org/officeDocument/2006/relationships/notesSlide" Target="/ppt/notesSlides/notesSlide6.xml" Id="Rb6987ec430e841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27be7ea70d4ceb" /><Relationship Type="http://schemas.openxmlformats.org/officeDocument/2006/relationships/image" Target="/ppt/media/image38.png" Id="R8ef8acbf323b43f4" /><Relationship Type="http://schemas.openxmlformats.org/officeDocument/2006/relationships/image" Target="/ppt/media/image38.svg" Id="R44c85f9d67fa4896" /><Relationship Type="http://schemas.openxmlformats.org/officeDocument/2006/relationships/image" Target="/ppt/media/image39.png" Id="Rcb4c3862718d4dab" /><Relationship Type="http://schemas.openxmlformats.org/officeDocument/2006/relationships/image" Target="/ppt/media/image39.svg" Id="Rfb2fdf4f0f804087" /><Relationship Type="http://schemas.openxmlformats.org/officeDocument/2006/relationships/image" Target="/ppt/media/image40.png" Id="Rfa11fd6e7b7740cd" /><Relationship Type="http://schemas.openxmlformats.org/officeDocument/2006/relationships/image" Target="/ppt/media/image40.svg" Id="R740e99bd6da5472c" /><Relationship Type="http://schemas.openxmlformats.org/officeDocument/2006/relationships/image" Target="/ppt/media/image41.png" Id="Re25c8aa1274842c9" /><Relationship Type="http://schemas.openxmlformats.org/officeDocument/2006/relationships/image" Target="/ppt/media/image41.svg" Id="R6c19b7d8af624894" /><Relationship Type="http://schemas.openxmlformats.org/officeDocument/2006/relationships/image" Target="/ppt/media/image42.png" Id="Ra862bf3ebe264dfd" /><Relationship Type="http://schemas.openxmlformats.org/officeDocument/2006/relationships/image" Target="/ppt/media/image42.svg" Id="R2b8732f2fcde432a" /><Relationship Type="http://schemas.openxmlformats.org/officeDocument/2006/relationships/image" Target="/ppt/media/image43.png" Id="Ra7f6b53085274e4b" /><Relationship Type="http://schemas.openxmlformats.org/officeDocument/2006/relationships/image" Target="/ppt/media/image43.svg" Id="R7a56515fa54445d2" /><Relationship Type="http://schemas.openxmlformats.org/officeDocument/2006/relationships/image" Target="/ppt/media/image44.png" Id="R26adc64bc31f41b0" /><Relationship Type="http://schemas.openxmlformats.org/officeDocument/2006/relationships/image" Target="/ppt/media/image44.svg" Id="Ref4c240636944634" /><Relationship Type="http://schemas.openxmlformats.org/officeDocument/2006/relationships/image" Target="/ppt/media/image45.png" Id="Rdd288eb0759d483d" /><Relationship Type="http://schemas.openxmlformats.org/officeDocument/2006/relationships/image" Target="/ppt/media/image45.svg" Id="R7352cbaa4bd64c47" /><Relationship Type="http://schemas.openxmlformats.org/officeDocument/2006/relationships/notesSlide" Target="/ppt/notesSlides/notesSlide7.xml" Id="R8899539758834d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281ffc337b4db9" /><Relationship Type="http://schemas.openxmlformats.org/officeDocument/2006/relationships/image" Target="/ppt/media/image46.png" Id="R49e748d081244369" /><Relationship Type="http://schemas.openxmlformats.org/officeDocument/2006/relationships/image" Target="/ppt/media/image46.svg" Id="R577eb54e57a14cab" /><Relationship Type="http://schemas.openxmlformats.org/officeDocument/2006/relationships/image" Target="/ppt/media/image47.png" Id="R13f10121de8b405f" /><Relationship Type="http://schemas.openxmlformats.org/officeDocument/2006/relationships/image" Target="/ppt/media/image47.svg" Id="R77f0d2d09a43409d" /><Relationship Type="http://schemas.openxmlformats.org/officeDocument/2006/relationships/image" Target="/ppt/media/image48.png" Id="Rc4bd71a11bec4db2" /><Relationship Type="http://schemas.openxmlformats.org/officeDocument/2006/relationships/image" Target="/ppt/media/image48.svg" Id="R00cc4dd4bfee4854" /><Relationship Type="http://schemas.openxmlformats.org/officeDocument/2006/relationships/image" Target="/ppt/media/image49.png" Id="R17e34a990f0f4a46" /><Relationship Type="http://schemas.openxmlformats.org/officeDocument/2006/relationships/image" Target="/ppt/media/image49.svg" Id="R8a2561cf343e44d5" /><Relationship Type="http://schemas.openxmlformats.org/officeDocument/2006/relationships/image" Target="/ppt/media/image50.png" Id="R580b1b081bed4f53" /><Relationship Type="http://schemas.openxmlformats.org/officeDocument/2006/relationships/image" Target="/ppt/media/image50.svg" Id="R92c006804f0a4bd4" /><Relationship Type="http://schemas.openxmlformats.org/officeDocument/2006/relationships/image" Target="/ppt/media/image51.png" Id="R2a3de56ba70843b4" /><Relationship Type="http://schemas.openxmlformats.org/officeDocument/2006/relationships/image" Target="/ppt/media/image51.svg" Id="R393a380aaa4e49f8" /><Relationship Type="http://schemas.openxmlformats.org/officeDocument/2006/relationships/notesSlide" Target="/ppt/notesSlides/notesSlide8.xml" Id="R0e351afe766d43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7e5c0d9f524502" /><Relationship Type="http://schemas.openxmlformats.org/officeDocument/2006/relationships/image" Target="/ppt/media/image52.png" Id="R0097514dc04f44fe" /><Relationship Type="http://schemas.openxmlformats.org/officeDocument/2006/relationships/image" Target="/ppt/media/image52.svg" Id="Rf6fab37a75044700" /><Relationship Type="http://schemas.openxmlformats.org/officeDocument/2006/relationships/image" Target="/ppt/media/image53.png" Id="Rea8a9b46ba93461a" /><Relationship Type="http://schemas.openxmlformats.org/officeDocument/2006/relationships/image" Target="/ppt/media/image53.svg" Id="R90e414eedfcc492f" /><Relationship Type="http://schemas.openxmlformats.org/officeDocument/2006/relationships/image" Target="/ppt/media/image54.png" Id="Re57321c1cf784b85" /><Relationship Type="http://schemas.openxmlformats.org/officeDocument/2006/relationships/image" Target="/ppt/media/image54.svg" Id="R26fa264350f5402a" /><Relationship Type="http://schemas.openxmlformats.org/officeDocument/2006/relationships/image" Target="/ppt/media/image55.png" Id="R2ad14dfd475e4f90" /><Relationship Type="http://schemas.openxmlformats.org/officeDocument/2006/relationships/image" Target="/ppt/media/image55.svg" Id="R77126f4aa5834735" /><Relationship Type="http://schemas.openxmlformats.org/officeDocument/2006/relationships/image" Target="/ppt/media/image56.png" Id="R7f0cc7afdb82459b" /><Relationship Type="http://schemas.openxmlformats.org/officeDocument/2006/relationships/image" Target="/ppt/media/image56.svg" Id="R922c6b4b29514886" /><Relationship Type="http://schemas.openxmlformats.org/officeDocument/2006/relationships/notesSlide" Target="/ppt/notesSlides/notesSlide9.xml" Id="R083e0f7155d645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309a2bfc0e469d" /><Relationship Type="http://schemas.openxmlformats.org/officeDocument/2006/relationships/image" Target="/ppt/media/image57.png" Id="R0f475bc3fa6a4ec2" /><Relationship Type="http://schemas.openxmlformats.org/officeDocument/2006/relationships/image" Target="/ppt/media/image57.svg" Id="Rcbc2dde9f71840f0" /><Relationship Type="http://schemas.openxmlformats.org/officeDocument/2006/relationships/image" Target="/ppt/media/image58.png" Id="R1325469fd5104d0b" /><Relationship Type="http://schemas.openxmlformats.org/officeDocument/2006/relationships/image" Target="/ppt/media/image58.svg" Id="R70cb0c70408b430f" /><Relationship Type="http://schemas.openxmlformats.org/officeDocument/2006/relationships/image" Target="/ppt/media/image59.png" Id="R4ff462f0295e4310" /><Relationship Type="http://schemas.openxmlformats.org/officeDocument/2006/relationships/image" Target="/ppt/media/image59.svg" Id="R8e648138d8bd4821" /><Relationship Type="http://schemas.openxmlformats.org/officeDocument/2006/relationships/image" Target="/ppt/media/image60.png" Id="Reebc3c2a4f964ae2" /><Relationship Type="http://schemas.openxmlformats.org/officeDocument/2006/relationships/image" Target="/ppt/media/image60.svg" Id="R0a5726b0036343b7" /><Relationship Type="http://schemas.openxmlformats.org/officeDocument/2006/relationships/image" Target="/ppt/media/image61.png" Id="R4ca2f4ed974c4be7" /><Relationship Type="http://schemas.openxmlformats.org/officeDocument/2006/relationships/image" Target="/ppt/media/image61.svg" Id="Rcc2f8869f1b543b3" /><Relationship Type="http://schemas.openxmlformats.org/officeDocument/2006/relationships/image" Target="/ppt/media/image62.png" Id="Rdf3d1f06ad7641ae" /><Relationship Type="http://schemas.openxmlformats.org/officeDocument/2006/relationships/image" Target="/ppt/media/image62.svg" Id="R82ec128a2bca415d" /><Relationship Type="http://schemas.openxmlformats.org/officeDocument/2006/relationships/image" Target="/ppt/media/image63.png" Id="R9c8308076a614f2f" /><Relationship Type="http://schemas.openxmlformats.org/officeDocument/2006/relationships/image" Target="/ppt/media/image63.svg" Id="R42e5a58d419a4628" /><Relationship Type="http://schemas.openxmlformats.org/officeDocument/2006/relationships/notesSlide" Target="/ppt/notesSlides/notesSlide10.xml" Id="R05ba4ac1677d4c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a2ad403ec346df" /><Relationship Type="http://schemas.openxmlformats.org/officeDocument/2006/relationships/image" Target="/ppt/media/image64.png" Id="Rbc226952875e489e" /><Relationship Type="http://schemas.openxmlformats.org/officeDocument/2006/relationships/image" Target="/ppt/media/image64.svg" Id="Rcdf9ca0bf89a4a40" /><Relationship Type="http://schemas.openxmlformats.org/officeDocument/2006/relationships/image" Target="/ppt/media/image65.png" Id="Rf030c10b567a44a1" /><Relationship Type="http://schemas.openxmlformats.org/officeDocument/2006/relationships/image" Target="/ppt/media/image65.svg" Id="Rfa61de5ccea947e5" /><Relationship Type="http://schemas.openxmlformats.org/officeDocument/2006/relationships/image" Target="/ppt/media/image66.png" Id="R351fe8bd5ea74f50" /><Relationship Type="http://schemas.openxmlformats.org/officeDocument/2006/relationships/image" Target="/ppt/media/image66.svg" Id="R560575e291994f38" /><Relationship Type="http://schemas.openxmlformats.org/officeDocument/2006/relationships/image" Target="/ppt/media/image67.png" Id="Rde0ecc3122894e2e" /><Relationship Type="http://schemas.openxmlformats.org/officeDocument/2006/relationships/image" Target="/ppt/media/image67.svg" Id="Ra3e9f0b51da24f82" /><Relationship Type="http://schemas.openxmlformats.org/officeDocument/2006/relationships/image" Target="/ppt/media/image68.png" Id="Ree6540a6aca74dac" /><Relationship Type="http://schemas.openxmlformats.org/officeDocument/2006/relationships/image" Target="/ppt/media/image68.svg" Id="R232b10603f9f41f6" /><Relationship Type="http://schemas.openxmlformats.org/officeDocument/2006/relationships/image" Target="/ppt/media/image69.png" Id="R92d7a24546ad452b" /><Relationship Type="http://schemas.openxmlformats.org/officeDocument/2006/relationships/image" Target="/ppt/media/image69.svg" Id="Rcb123a400ade4d39" /><Relationship Type="http://schemas.openxmlformats.org/officeDocument/2006/relationships/image" Target="/ppt/media/image70.png" Id="R623f35056c4a4d69" /><Relationship Type="http://schemas.openxmlformats.org/officeDocument/2006/relationships/image" Target="/ppt/media/image70.svg" Id="R9b5c554823104b3e" /><Relationship Type="http://schemas.openxmlformats.org/officeDocument/2006/relationships/notesSlide" Target="/ppt/notesSlides/notesSlide11.xml" Id="Rd82dd345e43e4d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1e95b4842d4ddf" /><Relationship Type="http://schemas.openxmlformats.org/officeDocument/2006/relationships/notesSlide" Target="/ppt/notesSlides/notesSlide12.xml" Id="Rcbf14b43799e41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9B210A-3237-402A-8182-2590626C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E954E-C625-4499-87AB-1F37695F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7C914-5C02-4A37-9921-3DD47BAA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97FCA-DF8C-41E8-BEAF-2BA2C3D0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8B3A2-09F6-4852-9219-1338C30A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38757-F057-4019-A710-2F9FCC59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64E77-D360-4FE8-8B25-99C9932A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47378-06B5-488B-B75A-A4583C75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952A6-453C-451E-A21E-8D96B1F2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3B6B8-22A2-4162-B0F9-847C83FE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66769-460C-4F44-9968-063DAE4C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D9B90-16B5-4C7A-A2EE-7F2BA061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93F4A-5B4B-4CA8-B657-626A6132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3C7E8-D387-44F4-9A8D-E21B352B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880F1-1029-46F0-A45B-448FB85F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8162D-B9D1-49AA-AF01-86E98CCA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5B3D7-5B32-4AED-A3CE-0ABF9CFA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454AD-9044-44AC-BC5D-658A5D96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" cy="304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41847-8106-460F-9D5C-58B58584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614"/>
            <a:ext cx="152400" cy="152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F5A22-5DD8-4658-A700-D09A3245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5800"/>
            <a:ext cx="342900" cy="3429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5EE99-CF85-4F5E-85DE-951B6E6C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47522"/>
            <a:ext cx="171450" cy="171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3BD64-0C89-415B-85C6-144B66E5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29300"/>
            <a:ext cx="266700" cy="2667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FDD7CA-B078-47D8-96E7-070E9867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877306"/>
            <a:ext cx="133350" cy="133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A7B423-7B45-4DF3-9DF2-43C7549A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rPr>
              <a:t>从 Harness 到 Copilot-Harness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069D5-D467-469A-8405-1C83A332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69BEA6-1855-46A8-91E5-1CB6FEAC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DAA27-50BC-4E22-A37B-BE76FA6F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给 AI 装上方向盘、刹车、仪表盘和错题本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83B09E-C4D1-4FCE-B55C-CC7F45FC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6217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73183B-2740-4F1D-ADF1-2DBAF032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4862A5-ED3B-48FB-8B0C-C3B4B3E4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924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F72FC5-38B3-417B-8EF6-FBAE497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71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模型能力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8110c344b4772">
            <a:extLst>
              <a:ext uri="{96DAC541-7B7A-43D3-8B79-37D633B846F1}">
                <asvg:svgBlip xmlns:asvg="http://schemas.microsoft.com/office/drawing/2016/SVG/main" r:embed="Rbca61a74c0d840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3950" y="2571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1FF201-8B76-4A3E-BF6C-792A7ED7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908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3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73FF"/>
                </a:solidFill>
                <a:latin typeface="PingFang SC"/>
                <a:ea typeface="PingFang SC"/>
                <a:cs typeface="PingFang SC"/>
              </a:rPr>
              <a:t>模型能力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534809-ED6E-4AC9-B1FD-2B9300B4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86167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像发动机：马力很足，但还不能直接上路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4C9676-B81F-4889-B104-9D70DEFB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838325"/>
            <a:ext cx="23812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FB0EB9-C121-47EC-BB52-676A04CC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71650"/>
            <a:ext cx="23812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AD47F4-693C-4B00-BC5D-FB609417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00200"/>
            <a:ext cx="1924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22CB18-09FA-42AC-8D1B-56484E56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478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Harness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c3c1b8d274793">
            <a:extLst>
              <a:ext uri="{96DAC541-7B7A-43D3-8B79-37D633B846F1}">
                <asvg:svgBlip xmlns:asvg="http://schemas.microsoft.com/office/drawing/2016/SVG/main" r:embed="R42bfc5101e994d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24450" y="2247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DA96CA-40F6-46A3-A48B-8AD4F44E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669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A86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A86B"/>
                </a:solidFill>
                <a:latin typeface="PingFang SC"/>
                <a:ea typeface="PingFang SC"/>
                <a:cs typeface="PingFang SC"/>
              </a:rPr>
              <a:t>Harness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C8DAC5-90FE-4533-B7BD-6A561BB0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1885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把执行环境、工具、证据、门禁和审计串成系统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880516-AA72-467F-ABE8-9B703681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6217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5F066D-9D0D-423D-ABBC-58A07C20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730035-C1DE-4E8A-80E6-CF8DDF07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1924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9D2E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669A55-1333-48DA-82AA-3C54498D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71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稳定交付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b812de69f4024">
            <a:extLst>
              <a:ext uri="{96DAC541-7B7A-43D3-8B79-37D633B846F1}">
                <asvg:svgBlip xmlns:asvg="http://schemas.microsoft.com/office/drawing/2016/SVG/main" r:embed="R2f28afe7e92640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0" y="2571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5F7893-45C9-45AA-B931-12D362D4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908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9D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9D2E"/>
                </a:solidFill>
                <a:latin typeface="PingFang SC"/>
                <a:ea typeface="PingFang SC"/>
                <a:cs typeface="PingFang SC"/>
              </a:rPr>
              <a:t>稳定交付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F544C2-3E92-4968-9F16-B0E02B02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可复用、可验证、可复利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4CDED5-7BD9-4E18-8E47-FF4508F6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6096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429B86-7F62-4472-AC8B-D53B2038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28900"/>
            <a:ext cx="6096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152246-700E-451F-A77D-273904A1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76425"/>
            <a:ext cx="342900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7FF">
              <a:alpha val="6275"/>
            </a:srgbClr>
          </a:solidFill>
          <a:ln xmlns:a="http://schemas.openxmlformats.org/drawingml/2006/main" w="14288">
            <a:solidFill>
              <a:srgbClr val="53C7FF">
                <a:alpha val="33333"/>
              </a:srgbClr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FD562E-E967-4DDE-8E36-6D0EFE38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99310"/>
            <a:ext cx="2571750" cy="14401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53C7FF">
                <a:alpha val="40000"/>
              </a:srgbClr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7ED8AE-96C7-4808-8C82-ED590D14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896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F">
              <a:alpha val="93333"/>
            </a:srgbClr>
          </a:solidFill>
          <a:ln xmlns:a="http://schemas.openxmlformats.org/drawingml/2006/main" w="14288">
            <a:solidFill>
              <a:srgbClr val="9CC8FF"/>
            </a:solidFill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273c7c6524dcd">
            <a:extLst>
              <a:ext uri="{96DAC541-7B7A-43D3-8B79-37D633B846F1}">
                <asvg:svgBlip xmlns:asvg="http://schemas.microsoft.com/office/drawing/2016/SVG/main" r:embed="R3d2cae60c0cb4d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5E8070-1609-4CBB-B7C6-175E1295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可控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6BFEB3-730D-4CE1-80FC-812E76E6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模型有能力，系统有边界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16AD3A-880D-40ED-9383-AB094F2E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886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8f849e6f6406d">
            <a:extLst>
              <a:ext uri="{96DAC541-7B7A-43D3-8B79-37D633B846F1}">
                <asvg:svgBlip xmlns:asvg="http://schemas.microsoft.com/office/drawing/2016/SVG/main" r:embed="R0c4bf5fa8eb74c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33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26A7CE-1923-4B48-AB89-517DDB8D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可证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E68D985-F41D-47A4-97D3-1B3189C7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每个结论带 source_ref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A84500-C42C-4B49-A5E7-9BFA57BA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86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d2e587f7b4bf9">
            <a:extLst>
              <a:ext uri="{96DAC541-7B7A-43D3-8B79-37D633B846F1}">
                <asvg:svgBlip xmlns:asvg="http://schemas.microsoft.com/office/drawing/2016/SVG/main" r:embed="R912089296c724d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62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68979C-DB5B-4B82-9EE7-E3AD6952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可复用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549598-298A-4526-9A77-3BD94047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经验沉淀为 Skill / Memory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D426477-4292-426C-9C31-9FF6C320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28700"/>
            <a:ext cx="2724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CFF">
              <a:alpha val="100000"/>
            </a:srgbClr>
          </a:solidFill>
          <a:ln xmlns:a="http://schemas.openxmlformats.org/drawingml/2006/main" w="11430">
            <a:solidFill>
              <a:srgbClr val="9CC8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55CF1C9-585D-4513-9C28-9E7A34D9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先别问“AI 会不会”，</a:t>
            </a:r>
          </a:p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先问“它能不能稳稳交付”。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2C3EE8-0AB8-4A94-823F-902F49F0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881497E-8E1E-4D56-8A01-15B8CAB1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Narrative v2: Harness concept first, then Copilot-Harness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5DB88E-6A5D-4C5A-B966-59552B28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6115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B26207-3E28-4BEE-AD20-8EB80FAC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D8940-2F17-40AD-B236-8F662799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AC965-6C18-407C-B6D6-421E9DB7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801D2-8D1E-4150-B044-448AF26E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2BBCD-C660-4BD1-B26D-2283DEBA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14D28-1CA8-4FA0-92D8-B1189024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1DEA5-4748-4C88-BBC3-F2554B9A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5339C-5292-46C0-8FDF-BC399430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2A630-BB95-4826-AC9E-3B0A8FB9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F5C40-B1B1-473D-8678-7D05F4D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A1FEC-4255-40DA-B833-60276004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51E2B-9785-4154-8776-B09DB998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1C7C9-A279-4DFD-9A1B-92A80F78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C5B92-3E70-4907-A1BD-7E2019B8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570F9-8236-4067-91BA-EE5D00F1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83E46-E062-4A22-86B5-6697319E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EB1CC-454D-4212-8954-F6FB558C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B054D-80AD-41A7-B1E8-3722CBED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" cy="304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8F8FD-AF3E-488E-B497-35C67B1E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614"/>
            <a:ext cx="152400" cy="152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51A98-A9C1-447A-B6D4-7271A130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5800"/>
            <a:ext cx="342900" cy="3429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28962-2D7B-436C-8CD4-0ED7397F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47522"/>
            <a:ext cx="171450" cy="171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FA963-55B0-467D-B2BB-44A1A1BC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29300"/>
            <a:ext cx="266700" cy="2667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27217-92CC-4DE0-8844-F6C87FD2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877306"/>
            <a:ext cx="133350" cy="133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65E63-662D-42DA-9ADF-622BE447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rPr>
              <a:t>Harness 到底是什么？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523ED1-D0CE-4C9E-ACDB-3B85AAB7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93C052-600C-46F6-92C2-63FC83F9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8E1052-9E53-4B01-9DD9-6E260AEF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77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不是更长的 Prompt，而是让模型进入企业流程的“整车系统”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86F2F7-72E6-432F-96C9-401D8D7B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3238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096FD-26E5-4C22-A461-933666B1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3238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536C87-7D92-47EF-B49A-69DA7C77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7995E4-A77B-4451-8AD6-C2DEDAAE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2877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没有 Harness：发动机放桌上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5632541fe475c">
            <a:extLst>
              <a:ext uri="{96DAC541-7B7A-43D3-8B79-37D633B846F1}">
                <asvg:svgBlip xmlns:asvg="http://schemas.microsoft.com/office/drawing/2016/SVG/main" r:embed="Rd068075e05b749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09750" y="25527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25DD05-E0FA-4FF3-9D69-6FEBC046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31738C-049F-4FAC-BEE7-72278324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只看单次回答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546AC0-2C8E-4352-B1B6-EF4B56BA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2C466B-BDCC-4FFD-83D9-0F72B720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工具调用靠临场发挥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8858C6-86AF-43AA-92E2-594067CA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AA6BB6-57AC-4A46-8D7D-94228B75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证据和审计常常断链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7490F4-5F10-4EAA-BE2A-C182F618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EDA3FB-C077-43BE-B0BA-80BFC9F7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经验很难复用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403650-63AB-419D-8BD1-83B1201B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19275"/>
            <a:ext cx="3238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81143C-C2B6-4B49-80D5-45EA6CD6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3238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79C18E-1135-4C49-A841-364A2290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DB0127-3714-45A2-8D3B-6A11467B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2877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 Harness：整车能上路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6040f88db4229">
            <a:extLst>
              <a:ext uri="{96DAC541-7B7A-43D3-8B79-37D633B846F1}">
                <asvg:svgBlip xmlns:asvg="http://schemas.microsoft.com/office/drawing/2016/SVG/main" r:embed="Rb2bfd5d69d5742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58300" y="25527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575ABF-558D-485B-90D7-980992BE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2137AF-8E0D-4093-A8E8-8AE7B802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有稳定执行壳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9E31FC-EDA1-45FC-A473-EFB01A5E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C2F16B-3E77-41EF-BC4A-1B53BB2D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671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有工具菜单和权限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3E5D7D-3CC2-43C8-A0F1-CAED0957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6C72E2-6BA9-46EC-A293-DC230301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291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有证据包和回放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D505FB-5AA4-4670-A3F0-27F0E8B1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E0C583-BBE0-4A28-91D0-F1FF2883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经验沉淀到下一轮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1300A1-6A05-4F5A-9C00-4D9787D9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81225"/>
            <a:ext cx="339090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4E8B1B-8BBC-4AAC-BC76-BE8E5C4F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14550"/>
            <a:ext cx="339090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2EDC5E-59C0-4925-AC4E-3E1FB4BB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431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468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7C1DD0-9204-4315-86F8-504C747B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9072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中间这层就是 Harness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ED74DD-3834-49B0-8559-68944490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>
              <a:alpha val="100000"/>
            </a:srgbClr>
          </a:solidFill>
          <a:ln xmlns:a="http://schemas.openxmlformats.org/drawingml/2006/main" w="12383">
            <a:solidFill>
              <a:srgbClr val="2F73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CFB258-1BCB-4B5D-853E-56BFCA0E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B63F44-4712-468B-931E-B775A349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71800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Runtime</a:t>
            </a:r>
          </a:p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执行环境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354C47-7B9B-4B91-81B5-A4EDA51C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>
              <a:alpha val="100000"/>
            </a:srgbClr>
          </a:solidFill>
          <a:ln xmlns:a="http://schemas.openxmlformats.org/drawingml/2006/main" w="12383">
            <a:solidFill>
              <a:srgbClr val="20A86B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ACF3DC-6A0B-47E7-AF97-D2F54077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9B33AD1-DA73-44F5-9B22-FEE3174D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Tools</a:t>
            </a:r>
          </a:p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受控工具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174EB8-126F-4619-9EAC-C24890F5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9090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>
              <a:alpha val="100000"/>
            </a:srgbClr>
          </a:solidFill>
          <a:ln xmlns:a="http://schemas.openxmlformats.org/drawingml/2006/main" w="12383">
            <a:solidFill>
              <a:srgbClr val="2F73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43198B-A6FB-4988-9628-B8A10252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909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33C682F-1177-45AD-A69A-A02ADC79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48050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证据袋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4ECD4D7-079D-4611-9D2D-286E5C73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>
              <a:alpha val="100000"/>
            </a:srgbClr>
          </a:solidFill>
          <a:ln xmlns:a="http://schemas.openxmlformats.org/drawingml/2006/main" w="12383">
            <a:solidFill>
              <a:srgbClr val="20A86B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92BC67-08D3-4B9C-8BF1-59F3AC23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CEBF7FA-5049-4AAE-8844-E8A48D0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Gates</a:t>
            </a:r>
          </a:p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门禁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884C43-3887-499C-9057-6F6853FB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671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>
              <a:alpha val="100000"/>
            </a:srgbClr>
          </a:solidFill>
          <a:ln xmlns:a="http://schemas.openxmlformats.org/drawingml/2006/main" w="12383">
            <a:solidFill>
              <a:srgbClr val="2F73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9A0EE43-9698-4A3C-965F-300682DB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671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03BE7D3-F34F-4348-BB38-730B1CA5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24300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Memory</a:t>
            </a:r>
          </a:p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错题本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0404B9-B448-4A7D-A09B-D507928D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>
              <a:alpha val="100000"/>
            </a:srgbClr>
          </a:solidFill>
          <a:ln xmlns:a="http://schemas.openxmlformats.org/drawingml/2006/main" w="12383">
            <a:solidFill>
              <a:srgbClr val="20A86B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0E18EDA-C8C5-423E-959D-A3980577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AA352DC-F231-4F25-B637-85AB5B03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24300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Audit</a:t>
            </a:r>
          </a:p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小票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3B63B6C-94D9-44DE-BFE7-96F92B5C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57850"/>
            <a:ext cx="1005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BFF">
              <a:alpha val="93333"/>
            </a:srgbClr>
          </a:solidFill>
          <a:ln xmlns:a="http://schemas.openxmlformats.org/drawingml/2006/main" w="11430">
            <a:solidFill>
              <a:srgbClr val="9CC8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6780972-CDDA-4169-8E1F-28B0982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比喻：模型会炒菜，Harness 管菜谱、食材、厨房权限、出餐质检和小票。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976E973-B704-4603-8978-5074D44C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0C67034-8FEB-45D5-84CC-9C9DB67D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Concept slide inspired by reference style; not a literal Notion copy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C2E01B3-136D-4A5B-AC4A-4B5C08D0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5217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DB6F44-F94B-4272-8913-B35D1351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9DABC-D318-4B20-B23F-281864A6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21F5E-EFC6-421A-944F-5DAFD9A2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4B064-1C43-4D43-BC18-93ED4D7F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6D62A-73EB-4D2F-9386-2D06C076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3AF54-94BC-437B-BD9A-59CC7B91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8508B-9CA9-417C-B504-32E0B669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28990-B4AE-4502-B6CE-068E485D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8F1E9-C27A-45DE-A493-797C5A33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96030-8D6D-40BE-99DE-A5DBCCE9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CED34-EAA2-4D72-8401-41646C95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26C8F-37CF-4B22-BC30-38304BA1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70B75-07BA-4260-81C8-A6485001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2BAAD-BEFC-4839-B60A-45BFB6CC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B2DAB-BE5D-4B84-A9B2-4341358F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4AD4F-A17E-4878-91A3-33522117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3EBA1-7E3C-4A65-952C-EA1CFD41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9DBEA-8BC5-4FE0-86B4-5D7061B4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" cy="304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2F194-C364-4550-BCA9-FF2FC1D6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614"/>
            <a:ext cx="152400" cy="152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F3DDF-431B-449F-8263-EB6C3E67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5800"/>
            <a:ext cx="342900" cy="3429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68824-754B-4413-A79E-ABE5AC32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47522"/>
            <a:ext cx="171450" cy="171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9A8F6-B991-4DA3-9715-6AAF362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29300"/>
            <a:ext cx="266700" cy="2667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8749A-731D-4C32-B945-9667292E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877306"/>
            <a:ext cx="133350" cy="133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C88241-5E9A-4700-AF29-E6265D2B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rPr>
              <a:t>Copilot-Harness 是什么？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7B546C-5DC3-4346-85F8-A51B7B5E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2815D7-BEE4-4BE5-A3D7-F821D92C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A5EA95-E91F-475F-BA4B-9E3B3879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8952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不重造 Copilot，而是在官方能力外补“控制面 + 认知面 + 治理面”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2439E9-6549-4E36-9500-19203271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43075"/>
            <a:ext cx="30480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411EDE-317C-4738-B08F-CFBE5BA9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30480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D21FF9-CBCF-477D-AC05-E65773C6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EB1238-839B-44BD-9F47-6A4A65CD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5257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执行壳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5815062204539">
            <a:extLst>
              <a:ext uri="{96DAC541-7B7A-43D3-8B79-37D633B846F1}">
                <asvg:svgBlip xmlns:asvg="http://schemas.microsoft.com/office/drawing/2016/SVG/main" r:embed="R45c276334a1f45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43100" y="226695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09E45F-7AC5-4284-9C25-A485CFFA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847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3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73FF"/>
                </a:solidFill>
                <a:latin typeface="PingFang SC"/>
                <a:ea typeface="PingFang SC"/>
                <a:cs typeface="PingFang SC"/>
              </a:rPr>
              <a:t>Runtime / Tools / Agent Loop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52F39E-BA15-4299-84DC-D8FDEF9E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让任务稳定跑起来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7173A7-5263-41A8-B69C-FAE3CA72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43075"/>
            <a:ext cx="30480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5EC6FB-2B7A-4AFA-B31A-E86080AF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76400"/>
            <a:ext cx="30480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2A1391-B682-4B54-BA6C-1DDEDE2B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049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1B36FC-B060-4C37-A4C6-7CD83548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5257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认知脑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7aed812d74b03">
            <a:extLst>
              <a:ext uri="{96DAC541-7B7A-43D3-8B79-37D633B846F1}">
                <asvg:svgBlip xmlns:asvg="http://schemas.microsoft.com/office/drawing/2016/SVG/main" r:embed="R91d45c92bd6e4a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76900" y="226695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C45D80-C405-4A97-A164-B18DEC46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5755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896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A86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A86B"/>
                </a:solidFill>
                <a:latin typeface="PingFang SC"/>
                <a:ea typeface="PingFang SC"/>
                <a:cs typeface="PingFang SC"/>
              </a:rPr>
              <a:t>Skill / Memory / MCP / Eval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7433A4-AEBF-4EA9-B7AE-70E56C74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把经验变成可复用资产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D47762-0F92-4608-A377-6452089F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743075"/>
            <a:ext cx="30480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6F346F-854C-4907-9E6F-CD8F34FD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76400"/>
            <a:ext cx="30480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D063D6-39FF-425F-9C42-C4D796AF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049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468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01A806-3C3E-4F1D-9A1A-ABECAB95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5257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安全网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c738d9e1841d4">
            <a:extLst>
              <a:ext uri="{96DAC541-7B7A-43D3-8B79-37D633B846F1}">
                <asvg:svgBlip xmlns:asvg="http://schemas.microsoft.com/office/drawing/2016/SVG/main" r:embed="R4f8b2a2b96c146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10700" y="226695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0134BB-4DFE-460B-8F5E-030C198C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5755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737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68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7468FF"/>
                </a:solidFill>
                <a:latin typeface="PingFang SC"/>
                <a:ea typeface="PingFang SC"/>
                <a:cs typeface="PingFang SC"/>
              </a:rPr>
              <a:t>Budget / Policy / Validator / Audit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84784B-6761-4F88-94C6-4B06D40F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把风险挡在流程里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648687-36C3-49A1-991A-3B00555D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896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F">
              <a:alpha val="93333"/>
            </a:srgbClr>
          </a:solidFill>
          <a:ln xmlns:a="http://schemas.openxmlformats.org/drawingml/2006/main" w="14288">
            <a:solidFill>
              <a:srgbClr val="9CC8FF"/>
            </a:solidFill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b1735b8a4448c">
            <a:extLst>
              <a:ext uri="{96DAC541-7B7A-43D3-8B79-37D633B846F1}">
                <asvg:svgBlip xmlns:asvg="http://schemas.microsoft.com/office/drawing/2016/SVG/main" r:embed="R17996931663540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22822E-381A-48DE-AE7A-6051EB56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执行可复现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01784C-20EB-41F7-B497-A8A5AD57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SDK/CLI 差异被隔离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31B07F-E69C-49AF-B4C1-C5C23C4A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886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da6c01f884eac">
            <a:extLst>
              <a:ext uri="{96DAC541-7B7A-43D3-8B79-37D633B846F1}">
                <asvg:svgBlip xmlns:asvg="http://schemas.microsoft.com/office/drawing/2016/SVG/main" r:embed="Re9c73d97fb4146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33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2CF02E-C526-43F3-BA37-3D536A3A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经验可复用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9D88BE-52D0-4969-B580-90E0B66B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隐性经验沉淀为资产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3FB398-5E6E-4A13-AEAE-146EDC8F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86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1a6861c00437b">
            <a:extLst>
              <a:ext uri="{96DAC541-7B7A-43D3-8B79-37D633B846F1}">
                <asvg:svgBlip xmlns:asvg="http://schemas.microsoft.com/office/drawing/2016/SVG/main" r:embed="R10a60cc91c4f44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62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806D37-F905-4C51-B106-69261FAC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过程可追溯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96E102-B06D-45A1-BC3A-219D71A1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审计与证据不断链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D20C69-C71E-448D-9175-99F17D05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1A33B5-1E8E-4951-9BF6-E9E3393B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Evidence: README.md + docs/framework/03-architecture-blueprint.md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42DE2A-55F7-4CA8-BE35-C29279B5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2802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D57A75-70BC-4276-92F9-4454E9D2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0B112-5609-48C1-8309-1F82DB71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396EF-7DD4-43AC-87CB-63EE8C14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0AACA-217C-4385-B771-E52AFC5E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E74ED-78D9-4CC5-A84F-2E33D342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FA7C9-F75D-4DE7-8DCF-96A44989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5E757-75E7-491B-856C-04D39214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937B5-9363-472B-BA2A-A1EC27D5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4DEAE-0610-481A-829A-C416AA6D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10189-4916-4300-89DC-0F31505D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C27B8-4A17-4BAB-A07A-01A76B38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F7C02-BA04-4AF1-9D8F-B9E1032A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5812A-1DEC-4C38-B11F-EA57BDC3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FF827-21F3-49A8-8C9E-F38C8ABC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89B78-0DA3-45BB-9666-D21CB193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7FBF7-4824-4882-A166-2161652F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06EBA-82FB-4A20-B862-2EF8FDB9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E0C5C-18EC-4109-B321-64E75401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" cy="304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24A1F2-71D2-4CCC-9966-036FD0AD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614"/>
            <a:ext cx="152400" cy="152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9C7DD-9366-4489-880A-C4B85C97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5800"/>
            <a:ext cx="342900" cy="3429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75066-6986-4BC8-9F28-F129565D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47522"/>
            <a:ext cx="171450" cy="171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10336-E913-4513-A978-D0D93BF0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29300"/>
            <a:ext cx="266700" cy="2667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54832-3B5C-4A04-AEC1-BBA7406F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877306"/>
            <a:ext cx="133350" cy="133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391AF4-7C00-4ADF-95AB-8B511426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rPr>
              <a:t>可复用经验资产要分层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A362A-FFF7-4AA9-B9CC-ABEC0E13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2DD56F-2750-4A8A-8463-1517BC02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4081AD-1798-4511-999B-55003563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把隐性经验变成可治理的认知资产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FDA418-ABD1-4BB4-88A2-114D8DF8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04975"/>
            <a:ext cx="590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D0638-09AD-4EEE-8B47-1B83BF70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38300"/>
            <a:ext cx="590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879CDC-7615-4439-8B8A-B4BC499C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668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98585C-9571-4B6E-B703-825F9536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1447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Skill：方法论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a567b167644be">
            <a:extLst>
              <a:ext uri="{96DAC541-7B7A-43D3-8B79-37D633B846F1}">
                <asvg:svgBlip xmlns:asvg="http://schemas.microsoft.com/office/drawing/2016/SVG/main" r:embed="R2d8042e1956b45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90900" y="17907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E28789-64E8-4182-83C1-4A52E6B8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716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3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73FF"/>
                </a:solidFill>
                <a:latin typeface="PingFang SC"/>
                <a:ea typeface="PingFang SC"/>
                <a:cs typeface="PingFang SC"/>
              </a:rPr>
              <a:t>Skill：方法论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989470-39E2-45D9-8C64-9117C978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02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245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可复用的流程、策略、检查清单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EC3E02-5394-4A43-8AB4-1FE34AEE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19375"/>
            <a:ext cx="590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5D142E-07C4-4233-B791-02CFAEF5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590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ABE4B1-7627-422F-89B3-6852CD59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32FF67-10A4-4768-A051-E3A5557F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Memory：已验证事实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fd2b56dc94d3a">
            <a:extLst>
              <a:ext uri="{96DAC541-7B7A-43D3-8B79-37D633B846F1}">
                <asvg:svgBlip xmlns:asvg="http://schemas.microsoft.com/office/drawing/2016/SVG/main" r:embed="R281566bdb5eb48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90900" y="27051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271CCE-5BEA-4855-9573-F92A7EB0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86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8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A86B"/>
                </a:solidFill>
                <a:latin typeface="PingFang SC"/>
                <a:ea typeface="PingFang SC"/>
                <a:cs typeface="PingFang SC"/>
              </a:rPr>
              <a:t>Memory：已验证事实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5C9F6D-DA23-41AE-AA40-8E373609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146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808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经过审批的结论、别名、规则、拓扑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A578B2-1298-43E0-9B91-0E133D22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33775"/>
            <a:ext cx="590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AEC684-FD0A-40F6-BE5C-C489FB1F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590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1AF78B-44A5-4496-B97B-6ED5A5C7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956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468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1A2979-AC12-4B39-8B75-87CD2105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4327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MCP：受控取证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f91aec9894020">
            <a:extLst>
              <a:ext uri="{96DAC541-7B7A-43D3-8B79-37D633B846F1}">
                <asvg:svgBlip xmlns:asvg="http://schemas.microsoft.com/office/drawing/2016/SVG/main" r:embed="R1a58d11d103445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90900" y="36195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CC8050-06CE-4425-B415-4C32C7AE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04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68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468FF"/>
                </a:solidFill>
                <a:latin typeface="PingFang SC"/>
                <a:ea typeface="PingFang SC"/>
                <a:cs typeface="PingFang SC"/>
              </a:rPr>
              <a:t>MCP：受控取证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93BB6D-7F30-4DE8-A37C-CDE77EC1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290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183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查 Jira、代码、日志、权限边界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433842-0945-45C9-9DA3-A3383C88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48175"/>
            <a:ext cx="590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00FFF2-6E4B-4417-A3DF-D1F43985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590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5BDB83-DCC1-4565-A87B-A908EF0E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1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9D2E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E591B9-1361-401B-8B56-346E4816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5767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Eval：回归验证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736513cbb4da2">
            <a:extLst>
              <a:ext uri="{96DAC541-7B7A-43D3-8B79-37D633B846F1}">
                <asvg:svgBlip xmlns:asvg="http://schemas.microsoft.com/office/drawing/2016/SVG/main" r:embed="R3be27dafdca44e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90900" y="45339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E18F13-CCC3-48A1-AE0C-F3059C8D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9D2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9D2E"/>
                </a:solidFill>
                <a:latin typeface="PingFang SC"/>
                <a:ea typeface="PingFang SC"/>
                <a:cs typeface="PingFang SC"/>
              </a:rPr>
              <a:t>Eval：回归验证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CC2CA0-AC6F-4E5D-8D22-0D24BE78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434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8627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样本、预期、判定规则、质量曲线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E644A9-10E9-49E8-A83E-5B91A6C7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19275"/>
            <a:ext cx="1905000" cy="27813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DE6CE2-435F-4B48-8A48-958D38CA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905000" cy="27813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DD8A03-21C7-4BD1-8108-5404C094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447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288A91-ACBB-43DD-8E65-9EC80052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散落经验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329f3532a4aaf">
            <a:extLst>
              <a:ext uri="{96DAC541-7B7A-43D3-8B79-37D633B846F1}">
                <asvg:svgBlip xmlns:asvg="http://schemas.microsoft.com/office/drawing/2016/SVG/main" r:embed="R2087ff564ee847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3000" y="24765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1F3189-33A9-4768-A2CC-B110677D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295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567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像一桌便利贴：</a:t>
            </a:r>
          </a:p>
          <a:p xmlns:a="http://schemas.openxmlformats.org/drawingml/2006/main">
            <a:pPr algn="ctr">
              <a:defRPr sz="13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有用，但不好复用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29CAA9-CAC5-4F16-843B-3AC423F0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76550"/>
            <a:ext cx="6096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0AE8F4-F956-4FBD-B3A4-3F5FDEBE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819275"/>
            <a:ext cx="1943100" cy="27813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CC8D8A-FF73-4840-BF7F-CB1B44DE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52600"/>
            <a:ext cx="1943100" cy="27813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24816A-7F32-4B00-B9B9-ECBA639C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81150"/>
            <a:ext cx="1485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EAF6503-CE22-4281-B8F7-85EC8F79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2877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经验资产库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250d564544585">
            <a:extLst>
              <a:ext uri="{96DAC541-7B7A-43D3-8B79-37D633B846F1}">
                <asvg:svgBlip xmlns:asvg="http://schemas.microsoft.com/office/drawing/2016/SVG/main" r:embed="R64ddfffbcb3a4d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72700" y="24765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423E4A5-8F9A-4D08-8FB6-43AD7435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2900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6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结构化、可审计、</a:t>
            </a:r>
          </a:p>
          <a:p xmlns:a="http://schemas.openxmlformats.org/drawingml/2006/main">
            <a:pPr algn="ctr">
              <a:defRPr sz="13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下一次能复用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28025BD-4370-48A0-A27E-4E05B458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57850"/>
            <a:ext cx="1005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BFF">
              <a:alpha val="93333"/>
            </a:srgbClr>
          </a:solidFill>
          <a:ln xmlns:a="http://schemas.openxmlformats.org/drawingml/2006/main" w="11430">
            <a:solidFill>
              <a:srgbClr val="9CC8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BBDAC5-C8A9-4672-AEC4-D643F939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经验先分层，再进入上下文；不分层的知识库，最后会变成“AI 版杂物间”。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BC2E108-EE00-4D8D-AE6D-66D96D96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F91705-497C-422D-BDAC-81E62990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Evidence: context/index.ts + memory/index.ts + automemory/harvester.ts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A3B6556-F808-41E8-BB15-38F85806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54943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D17A58-7B40-427D-8D3D-DC9A4D4C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77E37-F2CB-4A12-A243-7AC968BC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5D12E-366C-46AA-8E5C-30545058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B8C6A-B324-45B5-A96B-2F24FBDE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2802A-CAB5-4273-B227-2F24FA78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83118-1CF4-43ED-8D59-6D40ACB2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E18BE-ABC3-4C47-A52E-991E44BD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A555E-C8D9-44D0-A1B7-4C8A58C8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03A30-CC10-423F-BA1F-35FCA5FE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EC3DC-4BDF-4C8E-91EC-C7BB4B95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9B4BF-B960-4530-ADD6-A3C79D7E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330E2-3E44-4F99-9BBE-42835224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180B2-1B0F-418A-9AFA-6E0FCA92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41AA7-1384-411C-A259-0E6F4FF7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90D7B-424A-46FE-8F66-8AF66EFF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AF1D4-1581-4B3D-B657-3A3D09C0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1EB01-81C6-45FC-84AF-42F10DFF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71C16-ADA3-43B1-A7A5-8F712CFF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" cy="304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5B91B-91C0-4B7D-A58F-12AEA4A1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614"/>
            <a:ext cx="152400" cy="152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9919E-415C-4393-AD05-FDC8C16F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5800"/>
            <a:ext cx="342900" cy="3429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03BF6-5EE8-4EC2-8087-D88D3117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47522"/>
            <a:ext cx="171450" cy="171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6F10A-9C76-41EE-926C-89A94AEB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29300"/>
            <a:ext cx="266700" cy="2667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254F8-20B6-4C47-B16C-C30AD683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877306"/>
            <a:ext cx="133350" cy="133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C31756-A5B5-45BD-B49B-AF36C232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rPr>
              <a:t>可复用经验落地闭环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9D50A-A627-4CCB-9C74-53C3C9D4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64F1D0-A1CE-4AFC-B049-B8127AF5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F8399C-FB9B-4E36-B568-9A1FFE0E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每一次交付，都沉淀成下一次的上下文能力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A945A-2304-409D-9BDA-F1446465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19275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87DF6A-71E2-49C5-A1DA-36F99477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C8BF3C-0E24-4A4C-B16F-96E2405F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8313E2-9ABE-4F59-9D78-D6B3D218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dcfde2a6b4a9e">
            <a:extLst>
              <a:ext uri="{96DAC541-7B7A-43D3-8B79-37D633B846F1}">
                <asvg:svgBlip xmlns:asvg="http://schemas.microsoft.com/office/drawing/2016/SVG/main" r:embed="R47283af7efe34e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90650" y="21526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0AE2DC-A6D3-4092-9172-E11FBAC7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Jira 需求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99C042-3369-43FC-92E5-57D46AA9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明确目标与范围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9FC146-49D7-4E6A-8E5C-E452E066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574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A2B52B-81CD-491D-80FE-7E5FAB8B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19275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CA2108-FB4F-4F28-A6BE-6BD698BE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52600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36E604-1C01-43D5-A29E-073667D5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05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3284D9-D5C7-44AA-88B9-384C100E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05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b341211184aae">
            <a:extLst>
              <a:ext uri="{96DAC541-7B7A-43D3-8B79-37D633B846F1}">
                <asvg:svgBlip xmlns:asvg="http://schemas.microsoft.com/office/drawing/2016/SVG/main" r:embed="R7db5ff6e89d543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57600" y="21526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F42646-3AB9-4311-8BD6-9158D1AA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67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MCP 取证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3FB13D-00DD-4272-9E0A-C93A9375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337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收集权威证据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6D535E-F4D2-497B-A89E-3AC23E0A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574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140DE0-74F5-43CE-9521-CF1E8272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819275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079CED-CA49-45CC-9F18-839CDC5F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52600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672811-D9C0-4718-BDD8-FB0210DD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05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BFCA42-97AB-4778-B9EF-5A0F5875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05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aaade2c3a4f88">
            <a:extLst>
              <a:ext uri="{96DAC541-7B7A-43D3-8B79-37D633B846F1}">
                <asvg:svgBlip xmlns:asvg="http://schemas.microsoft.com/office/drawing/2016/SVG/main" r:embed="R8302bd359b0d42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550" y="21526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9F5E4F-C9F5-4C35-8503-CDF46FC6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Evidence Pack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4A5894-3422-467E-933B-D9C04D20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337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结构化证据包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0F1962-19AF-4B92-97AA-30AE7DD7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574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E42327-3748-4883-BB01-AB298758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819275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935BB7-3149-41A4-A5A2-FB93F674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52600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784996-2E6D-4E13-82D4-64551236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AD671-7F75-418A-9AF2-EECB6ACC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845b7d45849ad">
            <a:extLst>
              <a:ext uri="{96DAC541-7B7A-43D3-8B79-37D633B846F1}">
                <asvg:svgBlip xmlns:asvg="http://schemas.microsoft.com/office/drawing/2016/SVG/main" r:embed="Rf22116ed9e164a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91500" y="21526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E47D49-ADAE-405A-ACC2-F0BAEE56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67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Skill 路由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CFC769-7C38-4674-A8CB-73A6FB54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选择执行策略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7D53CA-ABFB-4B34-8C56-CF977CDF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7180D7-5543-4FA7-9D21-37F5425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19275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0196C6-9E41-481F-974D-FC0BA166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52600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201C69-87FD-4510-AE39-293E02A8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05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3B78B1-BD5B-4D89-BB7A-BA6CFCEA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05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0af791bbf4287">
            <a:extLst>
              <a:ext uri="{96DAC541-7B7A-43D3-8B79-37D633B846F1}">
                <asvg:svgBlip xmlns:asvg="http://schemas.microsoft.com/office/drawing/2016/SVG/main" r:embed="R78aef5bc732641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58450" y="21526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5860A8-8AD2-4BC5-9AC9-125983FF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67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Agent 输出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3296094-EE30-49EF-9152-7C5892A1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337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生成结果与产出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6E3FDB-8C97-47C8-94B9-BA14C786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00525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F379F66-5D9F-43DE-95FF-8B1744C7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338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A93942F-D452-421E-AA81-0C57B682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86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8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DB92A79-B735-4204-8A03-C5242C43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86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963c10c174bdb">
            <a:extLst>
              <a:ext uri="{96DAC541-7B7A-43D3-8B79-37D633B846F1}">
                <asvg:svgBlip xmlns:asvg="http://schemas.microsoft.com/office/drawing/2016/SVG/main" r:embed="Rbedb5559e45849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43150" y="4533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9CB6D2-E30A-45D8-A7C0-6AEC6439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Eval 回归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D590A89-D069-4BC6-9982-4BEC23F8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006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确认质量稳定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7B1890B-9C9A-451D-B911-E37B2A40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81550"/>
            <a:ext cx="3429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746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40AC1E-48AC-4518-B008-41352678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00525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7730B5-FA0B-404F-AEF2-5896AE31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338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D9C249-8C55-4769-BF31-6DC76C71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86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86B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3F5402C-9809-451A-AFA6-59038C18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86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9f36b92df4a6b">
            <a:extLst>
              <a:ext uri="{96DAC541-7B7A-43D3-8B79-37D633B846F1}">
                <asvg:svgBlip xmlns:asvg="http://schemas.microsoft.com/office/drawing/2016/SVG/main" r:embed="Rca6b345bd0624f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0100" y="4533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233BA0-FC2B-40C4-8605-3BFA657E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33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Memory 写入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DBC788-D96E-4CF9-A57A-D4AC2C0D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006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沉淀结构化经验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4CF94A0-E4C2-4D1C-95C1-8468553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81550"/>
            <a:ext cx="3429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746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C81B598-9EE2-43AD-95ED-9CA7E734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00525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3FE072B-14A0-4D46-8887-8A0764B1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338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87FAD2B-460F-48BB-ABF2-89D8B1D9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8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FDA2DA-5429-4B1C-A25D-0C772ABE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d526ba7404eee">
            <a:extLst>
              <a:ext uri="{96DAC541-7B7A-43D3-8B79-37D633B846F1}">
                <asvg:svgBlip xmlns:asvg="http://schemas.microsoft.com/office/drawing/2016/SVG/main" r:embed="Ra53d0f2bd16440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77050" y="4533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321671D-33EB-44BD-804B-848B02F9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33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Correction 候选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7EF391C-41A0-41F7-914B-36CA4879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006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发现问题并建议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0426CA3-18EC-45FB-A6F5-D3737401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81550"/>
            <a:ext cx="3429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746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9A75618-729D-4132-A3AC-E201FE7E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200525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9267881-CB8F-4016-9971-AF269263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40AF279-6F55-464C-82BF-A3C085D5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8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C4B9571-3C10-4206-932D-3D95F6E5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61295b7b64f12">
            <a:extLst>
              <a:ext uri="{96DAC541-7B7A-43D3-8B79-37D633B846F1}">
                <asvg:svgBlip xmlns:asvg="http://schemas.microsoft.com/office/drawing/2016/SVG/main" r:embed="Ra708064bd6ed4d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0" y="4533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7B03E6F-53AB-4747-BC3F-5D37D024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33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人工 Review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6B511A7-4D35-47AF-80C5-F5B65E1A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006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专业判断和把关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F2955CF-47D6-43E7-884D-9DF14EB1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228600" cy="7810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7420544-0055-4AF1-A81E-C63EF16B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9CC8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审批流、数据流、</a:t>
            </a:r>
          </a:p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审计流同时闭环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4E89A96-AE02-4A2C-85C4-4CFE3BB7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896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F">
              <a:alpha val="93333"/>
            </a:srgbClr>
          </a:solidFill>
          <a:ln xmlns:a="http://schemas.openxmlformats.org/drawingml/2006/main" w="14288">
            <a:solidFill>
              <a:srgbClr val="9CC8FF"/>
            </a:solidFill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0f57f8f1f4963">
            <a:extLst>
              <a:ext uri="{96DAC541-7B7A-43D3-8B79-37D633B846F1}">
                <asvg:svgBlip xmlns:asvg="http://schemas.microsoft.com/office/drawing/2016/SVG/main" r:embed="Rcd155c38c7c145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F17E6F3-E52E-4F4C-A2CA-7DE92457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先取证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E52C737-1028-4AED-82CB-1429B3E7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Evidence 驱动生成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545CF0B-B053-48E5-B121-92F13352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886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c013b17d14181">
            <a:extLst>
              <a:ext uri="{96DAC541-7B7A-43D3-8B79-37D633B846F1}">
                <asvg:svgBlip xmlns:asvg="http://schemas.microsoft.com/office/drawing/2016/SVG/main" r:embed="R3099357c26d449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33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C99D556-5F2C-49F1-B4E2-7BC5A0A5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先审批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5D1C192-88DB-4C10-9ACD-C1397729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人工把关再沉淀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AF4114A-A51A-42E1-B58D-09732C8B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86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d81759bf647a0">
            <a:extLst>
              <a:ext uri="{96DAC541-7B7A-43D3-8B79-37D633B846F1}">
                <asvg:svgBlip xmlns:asvg="http://schemas.microsoft.com/office/drawing/2016/SVG/main" r:embed="Rdde0227d1e2a46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62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8ED3059-E7E7-4C2F-8F3C-A89A25B2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先验证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05295B1-9483-4EF1-8E11-DEB12623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Eval 保证质量可持续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FE6E452-70B0-4ACB-A02A-2F7D8430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B79C102-A103-4FBA-9939-3ED233F2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Evidence: jira/context.ts + automemory/correctionCapture.ts + eval scripts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3782AB2-6F1C-40F9-B804-7FF51E32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1255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AC7A8-0348-49B3-82AD-EA27070A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7ADF6-2D41-4E91-927F-C3672EF1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E9256-FE28-4C04-B3A8-6ED4BC6F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9CF79-B9A6-4648-A6B2-752B6ACD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FC68F-3FB2-4098-B384-4669C3C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0F504-4725-4076-B847-172F501D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D1355-07BC-4803-9BBA-D612997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DB909-9AD2-494E-A5BF-624631EF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7EE40-447B-4418-BF43-31DEF94F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F15A4-6D01-4ED9-8E79-E12F9FDC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3D462-50FD-4CF6-9FBC-1D3FC170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53F36-D428-44E7-8ED8-1B92BC61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1E50D-1B18-4119-87ED-3FCB05E5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8D65D-2D62-4FA9-9BA3-6F0A8912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06BB1-6B88-4B3B-9006-7E098E7B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E2E6D-57CB-453E-B1DD-FB195955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F3DBD-464B-44DC-AD77-5C7BA9F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1E11A-8F4B-4A53-A928-682A3681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" cy="304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63E98-5D2A-42B1-BAB9-E80133B3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614"/>
            <a:ext cx="152400" cy="152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2BAB0-DC92-425E-8FA6-07718EAF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5800"/>
            <a:ext cx="342900" cy="3429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BCD63-AA87-40D1-A6A7-17DC64C7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47522"/>
            <a:ext cx="171450" cy="171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47F9E0-A684-435F-92A5-F7DC03CE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29300"/>
            <a:ext cx="266700" cy="2667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BC6C2-54F6-4D92-89B9-B3BDD62E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877306"/>
            <a:ext cx="133350" cy="133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EB256-E161-427C-B3AB-EF14A41E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rPr>
              <a:t>Orchestrator：AI 研发中枢的空中交通管制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78B0D-CF23-4087-8AC7-97C6A681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9C084F-69E0-4A59-A48A-203E4BFA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7CA609-AD40-4407-90D1-3DAD0BCF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它不替飞机飞，它负责航道、许可、防撞和备降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99077-F8C4-4943-8DF7-812A61F4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66925"/>
            <a:ext cx="3390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9A2D4-85C6-4E12-BB36-C1A23577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3390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B26346-3FDB-4B69-B8C9-AD6F5E68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288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FF0DEF-3C4B-4146-BB25-3CAAF9CA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7642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Orchestrator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7a02349d442da">
            <a:extLst>
              <a:ext uri="{96DAC541-7B7A-43D3-8B79-37D633B846F1}">
                <asvg:svgBlip xmlns:asvg="http://schemas.microsoft.com/office/drawing/2016/SVG/main" r:embed="R755b6971ed9440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81650" y="276225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97EB74-EAE3-44F7-AD80-5E6A8FD2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19275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CEFA41-8BB7-455A-A2BE-AD923973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7BB021-B218-47D1-AB2A-59ECE105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8115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0E071C-2AE7-4923-995E-E1CDB380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2877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任务路由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7f110ae0c4123">
            <a:extLst>
              <a:ext uri="{96DAC541-7B7A-43D3-8B79-37D633B846F1}">
                <asvg:svgBlip xmlns:asvg="http://schemas.microsoft.com/office/drawing/2016/SVG/main" r:embed="R2fd29cf5179b4f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20955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7EEC1F-428C-48D5-A61F-DE30C998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19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3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73FF"/>
                </a:solidFill>
                <a:latin typeface="PingFang SC"/>
                <a:ea typeface="PingFang SC"/>
                <a:cs typeface="PingFang SC"/>
              </a:rPr>
              <a:t>任务路由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E32F51-1195-4C8C-9F66-D61DD0BF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05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走哪条链路？</a:t>
            </a:r>
          </a:p>
        </p:txBody>
      </p:sp>
      <p:cxnSp>
        <p:nvCxnSpPr>
          <p:cNvPr id="40" name=""/>
          <p:cNvCxnSpPr>
            <a:stCxn xmlns:a="http://schemas.openxmlformats.org/drawingml/2006/main" id="3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371850" y="2276475"/>
            <a:ext cx="102870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3FF"/>
            </a:solidFill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6075FA-52F3-4C86-B688-E638E047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33825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0768D1-491D-4F26-B0AE-4F1E155D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B56DA4-FC95-453D-9277-E553422E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DC67B6-693C-48AE-9383-B37E9B5F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433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Skill 菜单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0a437d1d14dc1">
            <a:extLst>
              <a:ext uri="{96DAC541-7B7A-43D3-8B79-37D633B846F1}">
                <asvg:svgBlip xmlns:asvg="http://schemas.microsoft.com/office/drawing/2016/SVG/main" r:embed="R839536fbd6ff4b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421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81E874-D1E5-4515-B5B6-43D46A2E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338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A86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A86B"/>
                </a:solidFill>
                <a:latin typeface="PingFang SC"/>
                <a:ea typeface="PingFang SC"/>
                <a:cs typeface="PingFang SC"/>
              </a:rPr>
              <a:t>Skill 菜单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6BF0BC-2448-4E64-8AA8-25E84FEF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给模型哪些工具？</a:t>
            </a:r>
          </a:p>
        </p:txBody>
      </p:sp>
      <p:cxnSp>
        <p:nvCxnSpPr>
          <p:cNvPr id="48" name=""/>
          <p:cNvCxnSpPr>
            <a:stCxn xmlns:a="http://schemas.openxmlformats.org/drawingml/2006/main" id="42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3371850" y="3038475"/>
            <a:ext cx="10287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A86B"/>
            </a:solidFill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89B824-D0F7-4658-AE27-B431A201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819275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5A1B16-FEE9-456C-BC4D-459F47F3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A7410A-0801-4A30-81E7-427F93CE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8115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468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26050F-4B8D-49F5-BEC7-3F528568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2877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状态延续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a50339cbc4800">
            <a:extLst>
              <a:ext uri="{96DAC541-7B7A-43D3-8B79-37D633B846F1}">
                <asvg:svgBlip xmlns:asvg="http://schemas.microsoft.com/office/drawing/2016/SVG/main" r:embed="R55f3be63deb94e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20150" y="20955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0B83D0-4777-47EF-9504-D464ABF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19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68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7468FF"/>
                </a:solidFill>
                <a:latin typeface="PingFang SC"/>
                <a:ea typeface="PingFang SC"/>
                <a:cs typeface="PingFang SC"/>
              </a:rPr>
              <a:t>状态延续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B86023-898B-4B87-AC68-5A94A0D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3766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继续、阻塞、转人工？</a:t>
            </a:r>
          </a:p>
        </p:txBody>
      </p:sp>
      <p:cxnSp>
        <p:nvCxnSpPr>
          <p:cNvPr id="56" name=""/>
          <p:cNvCxnSpPr>
            <a:stCxn xmlns:a="http://schemas.openxmlformats.org/drawingml/2006/main" id="50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7791450" y="2276475"/>
            <a:ext cx="81915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68FF"/>
            </a:solidFill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DFB4CF-FAD2-4C5B-9D3E-814D0CD5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933825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A1F548-3596-4DB2-82DA-64914897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D1792B-4DCD-4072-A8A2-A86452B1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9D2E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648005-A417-49CB-A724-A6484053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433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失败恢复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7a4174a934082">
            <a:extLst>
              <a:ext uri="{96DAC541-7B7A-43D3-8B79-37D633B846F1}">
                <asvg:svgBlip xmlns:asvg="http://schemas.microsoft.com/office/drawing/2016/SVG/main" r:embed="R07cf7d6f488b4e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20150" y="421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828ED9-9645-4595-A516-5CF49C73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338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9D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9D2E"/>
                </a:solidFill>
                <a:latin typeface="PingFang SC"/>
                <a:ea typeface="PingFang SC"/>
                <a:cs typeface="PingFang SC"/>
              </a:rPr>
              <a:t>失败恢复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42562B-299D-4014-96D1-882C72E5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19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78391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重试、降级还是 handoff？</a:t>
            </a:r>
          </a:p>
        </p:txBody>
      </p:sp>
      <p:cxnSp>
        <p:nvCxnSpPr>
          <p:cNvPr id="64" name=""/>
          <p:cNvCxnSpPr>
            <a:stCxn xmlns:a="http://schemas.openxmlformats.org/drawingml/2006/main" id="5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 flipV="1">
            <a:off x="7791450" y="3038475"/>
            <a:ext cx="81915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D2E"/>
            </a:solidFill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3E808E-D00A-4A52-96FC-7F97CEF9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57850"/>
            <a:ext cx="1005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BFF">
              <a:alpha val="93333"/>
            </a:srgbClr>
          </a:solidFill>
          <a:ln xmlns:a="http://schemas.openxmlformats.org/drawingml/2006/main" w="11430">
            <a:solidFill>
              <a:srgbClr val="9CC8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CC083AA-426F-46BC-B062-5A19972E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比喻：Orchestrator 不是飞行员，是塔台；不是厨师，是后厨调度；不是模型大脑，是企业流程的大脑皮层。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AC68520-2C67-4EB0-8C2E-8A65150A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C898E5-53DA-4D40-8964-ADEE1410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Evidence: runtime/types.ts AgentRuntime + TurnState contract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B9AF8A-DF95-4850-B50E-2BD4273F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64742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73AB43-2D59-412E-BBA2-DCB25A33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3720C-AAF1-4A8A-863C-19917018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DEA9C-38AD-4EB1-923F-49522AE3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22AC1-9651-43EB-8206-B50D4ED6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623BB-7CE6-40C8-A836-AE1CBD2C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58A41-D293-4B06-811A-64998509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CEF2F-2CEC-458F-A6FA-DB495EBE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3C5CD-D083-42A5-9587-0F521352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A6233-9693-42DA-B461-22A93FA7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C82C4-564B-4F30-B515-81F77C11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A46DD-40BE-4948-9006-2E323E6A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B5728-43B8-456A-897A-E7825D51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1B292-E94D-4945-8759-4B9D7B5C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5DA08-FD7A-487B-8327-A881284F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EC12E-4199-44C2-992D-D1B36739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14296-4537-4080-82BC-5AD9393C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3716F-F79B-4C37-BF0C-485F73F6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9C396-FBF4-42F3-99A4-B3115865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" cy="304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6C723-D1DE-4C21-A151-73F78800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614"/>
            <a:ext cx="152400" cy="152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44DD0-34C7-48BB-A433-50DC41EA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5800"/>
            <a:ext cx="342900" cy="3429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E21C6-C590-4CB4-AF95-030DF02A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47522"/>
            <a:ext cx="171450" cy="171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CB3DD-A560-4665-A832-75A79FBE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29300"/>
            <a:ext cx="266700" cy="2667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65CF8-5F3E-4BB6-BCD0-380D607E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877306"/>
            <a:ext cx="133350" cy="133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8D133A-863F-4010-8826-4A9B4C20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rPr>
              <a:t>Runtime 是执行壳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51847E-52C1-4E68-852C-BDF0E2D0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AE2A1-6AA4-423D-A5CD-FBD81A9E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B845A8-0244-4ACB-A386-0E73DBF6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977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把 SDK / CLI 变化隔离在发动机舱，不让上层业务跟着颠簸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BC093-08A8-4FE2-8B44-24EF2FE5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14525"/>
            <a:ext cx="39243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E929D-5630-4BEA-9D57-1B7FA90E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47850"/>
            <a:ext cx="39243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678450-CF9E-4032-9F7C-B38F7B77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849F29-7C61-45B6-9445-A365649F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2402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AgentRuntime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8acbf323b43f4">
            <a:extLst>
              <a:ext uri="{96DAC541-7B7A-43D3-8B79-37D633B846F1}">
                <asvg:svgBlip xmlns:asvg="http://schemas.microsoft.com/office/drawing/2016/SVG/main" r:embed="R44c85f9d67fa48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62600" y="26479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518377-9278-4532-927C-C5B1A335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876425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31CDA8-2862-4B54-A25C-ABA296C8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F187CD-6CBF-4648-A3D2-F82671A3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090BB3-82BA-44D0-8E4A-C48D7C99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859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SDK Runtime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c3862718d4dab">
            <a:extLst>
              <a:ext uri="{96DAC541-7B7A-43D3-8B79-37D633B846F1}">
                <asvg:svgBlip xmlns:asvg="http://schemas.microsoft.com/office/drawing/2016/SVG/main" r:embed="Rfb2fdf4f0f8040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3950" y="21526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8D7025-93DF-416D-B879-DCEB483F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7645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751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SDK Runtime</a:t>
            </a:r>
          </a:p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CopilotSdkRuntime</a:t>
            </a:r>
          </a:p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外部执行可控打开</a:t>
            </a:r>
          </a:p>
        </p:txBody>
      </p:sp>
      <p:cxnSp>
        <p:nvCxnSpPr>
          <p:cNvPr id="39" name=""/>
          <p:cNvCxnSpPr>
            <a:stCxn xmlns:a="http://schemas.openxmlformats.org/drawingml/2006/main" id="3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390900" y="2343150"/>
            <a:ext cx="7429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3FF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F2179F-3B67-4E4D-9F17-E6F736C6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57575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B85C3D-7792-4834-AC4F-C8D40DCC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449C15-01D9-4BBF-8A18-BF22FC02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468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0E85B6-B12A-456C-AA61-CB295F40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6707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CLI Runtime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1fd6e7b7740cd">
            <a:extLst>
              <a:ext uri="{96DAC541-7B7A-43D3-8B79-37D633B846F1}">
                <asvg:svgBlip xmlns:asvg="http://schemas.microsoft.com/office/drawing/2016/SVG/main" r:embed="R740e99bd6da547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3950" y="37338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3C127C-ECD8-4726-A050-51EFD566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5760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751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CLI Runtime</a:t>
            </a:r>
          </a:p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CopilotCliRuntime</a:t>
            </a:r>
          </a:p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合约/本地路径隔离</a:t>
            </a:r>
          </a:p>
        </p:txBody>
      </p:sp>
      <p:cxnSp>
        <p:nvCxnSpPr>
          <p:cNvPr id="46" name=""/>
          <p:cNvCxnSpPr>
            <a:stCxn xmlns:a="http://schemas.openxmlformats.org/drawingml/2006/main" id="41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3390900" y="3009900"/>
            <a:ext cx="74295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68FF"/>
            </a:solidFill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EA99E4-C36A-48CD-BC6E-9EFCDFA3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876425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10C1D3-C705-4126-ABEF-15B1BDDA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9C9909-237E-4E1A-98C4-C885B15A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830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905C29-41EB-4D2A-A348-1E4252B5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859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Hooks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c8aa1274842c9">
            <a:extLst>
              <a:ext uri="{96DAC541-7B7A-43D3-8B79-37D633B846F1}">
                <asvg:svgBlip xmlns:asvg="http://schemas.microsoft.com/office/drawing/2016/SVG/main" r:embed="R6c19b7d8af6248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48750" y="21526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89F322-104F-4457-A92A-2BAA3915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751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Hooks</a:t>
            </a:r>
          </a:p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onToolCall / onTurnEnd</a:t>
            </a:r>
          </a:p>
        </p:txBody>
      </p:sp>
      <p:cxnSp>
        <p:nvCxnSpPr>
          <p:cNvPr id="53" name=""/>
          <p:cNvCxnSpPr>
            <a:stCxn xmlns:a="http://schemas.openxmlformats.org/drawingml/2006/main" id="29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V="1">
            <a:off x="8058150" y="2343150"/>
            <a:ext cx="7810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A86B"/>
            </a:solidFill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D2BB8D-E476-4DE2-AC2F-19E4D4A6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57575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B92F79-2679-4B9E-891D-8E10B789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909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622476-853E-474F-B0BE-DEC1A12C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9D2E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B55E79-3844-4640-9308-2360BA35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6707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Capability Flags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2bf3ebe264dfd">
            <a:extLst>
              <a:ext uri="{96DAC541-7B7A-43D3-8B79-37D633B846F1}">
                <asvg:svgBlip xmlns:asvg="http://schemas.microsoft.com/office/drawing/2016/SVG/main" r:embed="R2b8732f2fcde43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48750" y="37338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5EF759B-7138-4F24-922C-C982E9BD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751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Capability Flags</a:t>
            </a:r>
          </a:p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unsupported 要结构化返回</a:t>
            </a:r>
          </a:p>
        </p:txBody>
      </p:sp>
      <p:cxnSp>
        <p:nvCxnSpPr>
          <p:cNvPr id="60" name=""/>
          <p:cNvCxnSpPr>
            <a:stCxn xmlns:a="http://schemas.openxmlformats.org/drawingml/2006/main" id="29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8058150" y="3009900"/>
            <a:ext cx="78105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D2E"/>
            </a:solidFill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4406A4-3C54-4D31-97A0-C3A84112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896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F">
              <a:alpha val="93333"/>
            </a:srgbClr>
          </a:solidFill>
          <a:ln xmlns:a="http://schemas.openxmlformats.org/drawingml/2006/main" w="14288">
            <a:solidFill>
              <a:srgbClr val="9CC8FF"/>
            </a:solidFill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6b53085274e4b">
            <a:extLst>
              <a:ext uri="{96DAC541-7B7A-43D3-8B79-37D633B846F1}">
                <asvg:svgBlip xmlns:asvg="http://schemas.microsoft.com/office/drawing/2016/SVG/main" r:embed="R7a56515fa54445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9DDB8A-CFD7-44BB-8529-B6F16EF1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模型锁定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344F3F3-2438-468E-839F-93FAE574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gpt-5-mini 是类型约束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8FBE8FB-6328-4EAD-B491-97EC36C2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886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dc64bc31f41b0">
            <a:extLst>
              <a:ext uri="{96DAC541-7B7A-43D3-8B79-37D633B846F1}">
                <asvg:svgBlip xmlns:asvg="http://schemas.microsoft.com/office/drawing/2016/SVG/main" r:embed="Ref4c2406369446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33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5426700-EE75-44DA-8211-8B592D24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能力探测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8C6758-B2C6-424D-9DA1-70E6687E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不能做就明确 blocked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A9B229-0DEC-440B-B940-2DFC2560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86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88eb0759d483d">
            <a:extLst>
              <a:ext uri="{96DAC541-7B7A-43D3-8B79-37D633B846F1}">
                <asvg:svgBlip xmlns:asvg="http://schemas.microsoft.com/office/drawing/2016/SVG/main" r:embed="R7352cbaa4bd64c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62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D338D36-017B-4A40-AF80-DE1F00E9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Hook 注入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B2BEF5A-2186-405B-A315-64061E9E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门禁挂到执行过程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7627FB-3E9F-4612-B6C1-56520DB0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1CDBC5D-E44D-4939-9A24-BC295891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Evidence: runtime/types.ts + runtime/bootstrap.ts + copilotSdkRuntime.ts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F800F4-97B4-431F-8501-F7F6BF64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46900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7FC7F5-E72E-42C9-BD85-BABFE0D6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D5861-5CCD-440E-9EF0-8824EECA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9E78C-B618-4A69-A2EB-45114B35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A572C-2E32-4CD6-84B4-3CB4D0F8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1527C-7E36-45D7-A10E-CEB28A70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874F6-68B5-4101-B19A-8299E8C9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C1619-C5D8-4FF9-A231-FF39143D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A83A8-2611-4A56-88AE-2EB33BD6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04C38-B3D0-47F7-9833-C222B881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4AAFD-DAFE-452D-8F72-82DE980C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A8599-2FB1-4FFF-8B14-60FE2BD3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21027-DCC1-4E69-92BC-A46A3575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75165-5A1A-4D06-8662-37DECC66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D4204-C916-4833-A95E-01ECA105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CD621-C112-47E4-ADF6-81FC7141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7813B-25A9-4EAF-A792-EE5F8E78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A931D-D938-48AD-808C-1D928D1D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D5EED4-5DC6-4112-823B-6133ACDE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" cy="304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54198-6015-4EE1-ACC7-5D4E52E6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614"/>
            <a:ext cx="152400" cy="152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D63D8-BC22-42E7-94BC-83112515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5800"/>
            <a:ext cx="342900" cy="3429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B9AB9-A581-4979-ACFD-55F614CB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47522"/>
            <a:ext cx="171450" cy="171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5A930C-19C7-4366-AEC9-5AA8064D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29300"/>
            <a:ext cx="266700" cy="2667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6C7F5-3A8D-4A9D-B7AE-6379C152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877306"/>
            <a:ext cx="133350" cy="133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F7A1E-0776-4662-8A11-535F25E8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rPr>
              <a:t>Context 与 EvidencePack：先备菜，再开火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5B5B29-5C80-4A53-9772-7ACFCBA2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327C5-3CFA-4B40-90BC-BA0DA296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A66657-1B77-437F-BE20-878EFDE2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没有 source_ref 的“灵感”，不能混进事实区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96F605-498A-48B5-9406-B5605858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28775"/>
            <a:ext cx="2781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44A63E-8071-41B1-8261-F30C0DFC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781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748d081244369">
            <a:extLst>
              <a:ext uri="{96DAC541-7B7A-43D3-8B79-37D633B846F1}">
                <asvg:svgBlip xmlns:asvg="http://schemas.microsoft.com/office/drawing/2016/SVG/main" r:embed="R577eb54e57a14c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16954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55FE14-98E8-46BC-B46A-BD75E83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5735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Jira Context</a:t>
            </a:r>
          </a:p>
          <a:p xmlns:a="http://schemas.openxmlformats.org/drawingml/2006/main">
            <a:pPr algn="ctr">
              <a:def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需求、评论、附件元数据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4E0B82-D2EA-40D7-9CE9-17918EAF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335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63EFB0-06C5-4E44-B6EA-1DBC730B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28875"/>
            <a:ext cx="2781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8D84D0-2356-4116-A8BE-061E663B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781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10121de8b405f">
            <a:extLst>
              <a:ext uri="{96DAC541-7B7A-43D3-8B79-37D633B846F1}">
                <asvg:svgBlip xmlns:asvg="http://schemas.microsoft.com/office/drawing/2016/SVG/main" r:embed="R77f0d2d09a4340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24955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A4CC3C-C106-4089-8063-F3A53BAE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5745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Code Retrieval</a:t>
            </a:r>
          </a:p>
          <a:p xmlns:a="http://schemas.openxmlformats.org/drawingml/2006/main">
            <a:pPr algn="ctr">
              <a:def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代码片段和行号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45F49E-5D80-4629-860B-874C1F92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336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68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9AFB11-4AA4-4FC5-9A3B-B1B21471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28975"/>
            <a:ext cx="2781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B37F91-0AE7-491F-BA3C-3CAB35F6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781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d71a11bec4db2">
            <a:extLst>
              <a:ext uri="{96DAC541-7B7A-43D3-8B79-37D633B846F1}">
                <asvg:svgBlip xmlns:asvg="http://schemas.microsoft.com/office/drawing/2016/SVG/main" r:embed="R00cc4dd4bfee48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32956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6D1F6B-5224-4ADB-AD32-563AF126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Memory hot_index</a:t>
            </a:r>
          </a:p>
          <a:p xmlns:a="http://schemas.openxmlformats.org/drawingml/2006/main">
            <a:pPr algn="ctr">
              <a:def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已批准的热知识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F3C66D-8F3E-49B0-AB10-79D0CB94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A86B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694116-169C-4170-9377-659F547A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29075"/>
            <a:ext cx="2781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56EBC5-5DB3-418E-927E-01DD845D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2781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34a990f0f4a46">
            <a:extLst>
              <a:ext uri="{96DAC541-7B7A-43D3-8B79-37D633B846F1}">
                <asvg:svgBlip xmlns:asvg="http://schemas.microsoft.com/office/drawing/2016/SVG/main" r:embed="R8a2561cf343e44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40957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ADD4CF-6F53-4FE3-B0A3-975479B1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5765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Skill Hint</a:t>
            </a:r>
          </a:p>
          <a:p xmlns:a="http://schemas.openxmlformats.org/drawingml/2006/main">
            <a:pPr algn="ctr">
              <a:def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任务打法和约束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972910-777A-4E63-ABAB-359A592E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338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D2E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F79B34-58B3-46D1-98CC-94E457C8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781175"/>
            <a:ext cx="3009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291C73-06EC-4DD2-BAC8-A659F693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14500"/>
            <a:ext cx="3009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2660F3-FB17-4286-B221-571865C4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543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C15AF9-B988-4079-A6DD-84CF50A1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9067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EvidencePack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b1b081bed4f53">
            <a:extLst>
              <a:ext uri="{96DAC541-7B7A-43D3-8B79-37D633B846F1}">
                <asvg:svgBlip xmlns:asvg="http://schemas.microsoft.com/office/drawing/2016/SVG/main" r:embed="R92c006804f0a4b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550" y="25527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DBAF7C-AE35-4CA7-B98A-E2F7DAF2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A78362-8B3D-449D-B3F4-29050DF7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814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task_id / intent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B2E7CC-8898-4FAB-B8D6-72C7EBF5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46B033-5B00-4503-B7AF-8DADC3F8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433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evidences[] + source_ref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3CF815-DDFC-4C12-8086-FBA983E6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5B0B01-D824-4531-8F15-3F5ECB7C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053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assumptions[] + confidence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B455DD-B03F-4D0A-B68A-580170DF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66A052-6674-47CE-B758-C351522C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672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缺证据就 await_human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6EA626-5DB2-4BDC-AA48-E0EBD3A7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76475"/>
            <a:ext cx="23241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70C413-C60C-471C-BDBA-00860962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23241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F5335A-4519-447A-AD6A-2159317B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76C7BB-14C2-472B-A16F-0100D4EC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8597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Model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de56ba70843b4">
            <a:extLst>
              <a:ext uri="{96DAC541-7B7A-43D3-8B79-37D633B846F1}">
                <asvg:svgBlip xmlns:asvg="http://schemas.microsoft.com/office/drawing/2016/SVG/main" r:embed="R393a380aaa4e49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58350" y="2838450"/>
            <a:ext cx="609600" cy="609600"/>
          </a:xfrm>
          <a:prstGeom xmlns:a="http://schemas.openxmlformats.org/drawingml/2006/main" prst="rect">
            <a:avLst/>
          </a:prstGeom>
        </p:spPr>
      </p:pic>
      <p:cxnSp>
        <p:nvCxnSpPr>
          <p:cNvPr id="66" name=""/>
          <p:cNvCxnSpPr>
            <a:stCxn xmlns:a="http://schemas.openxmlformats.org/drawingml/2006/main" id="49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7886700" y="310515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A86B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53C0B9-E38B-4D57-92B9-E4DFDF91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57850"/>
            <a:ext cx="1005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BFF">
              <a:alpha val="93333"/>
            </a:srgbClr>
          </a:solidFill>
          <a:ln xmlns:a="http://schemas.openxmlformats.org/drawingml/2006/main" w="11430">
            <a:solidFill>
              <a:srgbClr val="9CC8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675B65B-D173-4C16-A1F6-5E26AD15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比喻：EvidencePack 像密封证据袋；没有来源标签的纸条，最多放到 assumptions，不能伪装成事实。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FF7AF46-8D72-498B-B458-940DABAD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73E6EBD-4CFE-4AEF-8695-C34FA07C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Evidence: context/index.ts + jira/context.ts + gates Validator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3D46FC4-F5A5-49FC-9AC8-76BF028A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853655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F64D15-4D2E-426B-9CE1-2F866EDF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4D610-0763-44D7-975B-4F082301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36319-9BEA-4CA0-8FA1-3EA4A588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D3CBE-98B0-4235-B0CD-FA7938CF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77944-D9D4-4DCA-B5E7-1B75D64B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B3199-FFA7-4524-8B18-A518525A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9EA80-D04D-4026-BA8C-618E6BEF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1E17D-00C3-48B4-BC9F-22FDF8D2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A11CF-C55F-4BF4-80CD-29A1F942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0A276-13CA-4FF5-8EB1-CC3168A8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53B41-1D70-4DAB-A938-EBD795F6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A145-7EAF-40D0-AD99-E80BE09B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F09A7-58F4-4532-949F-BFBD1FEE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8E53F-DC8E-464E-9AB9-122A85CB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93CB5-1BFF-43D0-8A03-E17EE69E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82024-791F-4AAF-8F01-D37D6E5B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D194B-7019-4108-A51E-1C910CAD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1888F-2549-4B67-8809-0841E712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" cy="304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0B058-5604-42BC-BBDB-66BBDC16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614"/>
            <a:ext cx="152400" cy="152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5645A-D79F-48DD-B874-4122B5A4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5800"/>
            <a:ext cx="342900" cy="3429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C70CA-9AA2-4206-889D-09ACB494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47522"/>
            <a:ext cx="171450" cy="171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9F10B-064F-45BD-91B2-F34E6833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29300"/>
            <a:ext cx="266700" cy="2667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B3B3A8-782A-478B-BE15-60532564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877306"/>
            <a:ext cx="133350" cy="133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D1A86D-B597-4008-8F7B-E2A9ADA3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rPr>
              <a:t>Tool Calling：模型点菜，Orchestrator 管菜单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98F0A6-F266-4005-9777-F0C254E8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7A0A24-A06A-480D-800A-4C323661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C57A1-084D-48AA-BF05-2812703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聪明可以发挥，但只能在企业允许的菜单里发挥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2BA14-A474-4A50-B4F4-C7296869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8BE221-DBD9-4623-8F3E-16BCF05D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82A254-15C2-4DF4-AA79-691ED145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606837-B3F7-4D3B-8229-0DC1E884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7514dc04f44fe">
            <a:extLst>
              <a:ext uri="{96DAC541-7B7A-43D3-8B79-37D633B846F1}">
                <asvg:svgBlip xmlns:asvg="http://schemas.microsoft.com/office/drawing/2016/SVG/main" r:embed="Rf6fab37a750447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85900" y="2590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7EA58E-FBF7-4709-8AAF-B6003E64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5263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Orchestrator</a:t>
            </a:r>
          </a:p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摆菜单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D3D39A-2A24-408A-8DC0-8C427D49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工具白名单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55680F-EE78-4748-A5E6-B16D89F7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384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5E4564-475D-4476-939D-B19A086C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257425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16D24A-9A13-4778-AD30-B7A55843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35F46-2FC4-4F87-BE4A-B710026C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86B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23C8B5-A1AA-4120-9252-B3783527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43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a9b46ba93461a">
            <a:extLst>
              <a:ext uri="{96DAC541-7B7A-43D3-8B79-37D633B846F1}">
                <asvg:svgBlip xmlns:asvg="http://schemas.microsoft.com/office/drawing/2016/SVG/main" r:embed="R90e414eedfcc49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52850" y="2590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1A3E06-B328-46C5-9CE7-DE9ACC5A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48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5263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Model</a:t>
            </a:r>
          </a:p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输出 tool_calls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9F26AD-4441-42EB-9F7C-8FDAD102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147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模型选择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A53FDD-E43B-4674-AD65-07530162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B85203-E88E-41D7-A4FA-FB401574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57425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8F71ED-E592-48B0-B91B-096B92D5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90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1B2FED-2409-4381-AF96-9876A024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2E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366299-8A66-4BB7-9EEC-1BD974AF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43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321c1cf784b85">
            <a:extLst>
              <a:ext uri="{96DAC541-7B7A-43D3-8B79-37D633B846F1}">
                <asvg:svgBlip xmlns:asvg="http://schemas.microsoft.com/office/drawing/2016/SVG/main" r:embed="R26fa264350f540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19800" y="2590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6EFEB2-C92B-4C16-A3A3-73CE5895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5263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BudgetGate</a:t>
            </a:r>
          </a:p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看钱包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57CA22-572A-4207-9E80-2654EA7E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147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放行/阻断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AC460C-39F8-49FC-9468-0FA1E34C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384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C4D05B-F4C6-4EC9-8DDB-1441296A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257425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B6266D-31BE-4382-8ED1-D51B3DE5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90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84D69E-4165-4A92-BAA2-D1E6E994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8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E75768-C64D-4C92-B588-BE5CA579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14dfd475e4f90">
            <a:extLst>
              <a:ext uri="{96DAC541-7B7A-43D3-8B79-37D633B846F1}">
                <asvg:svgBlip xmlns:asvg="http://schemas.microsoft.com/office/drawing/2016/SVG/main" r:embed="R77126f4aa58347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0" y="2590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507237-FD09-4224-BF05-818BB89E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5263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PolicyGate</a:t>
            </a:r>
          </a:p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看禁忌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A16693-0BC3-4738-A4EC-BABE09B9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147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放行/阻断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39F0C1-6DE8-4D69-9B16-5DE27B4D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384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DD8CDD-85F2-4E0F-8268-EEBE5960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257425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A5A74C-05F6-4CD3-8796-BE63A0DF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90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FFE68D-C2FC-41D2-86CC-F1ACEAED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14C25E-B9D0-47CF-BC04-4F55C165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43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cc7afdb82459b">
            <a:extLst>
              <a:ext uri="{96DAC541-7B7A-43D3-8B79-37D633B846F1}">
                <asvg:svgBlip xmlns:asvg="http://schemas.microsoft.com/office/drawing/2016/SVG/main" r:embed="R922c6b4b295148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53700" y="2590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3FE615-F2F3-466F-B7A1-0D00CEAE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48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5263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Tool</a:t>
            </a:r>
          </a:p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进厨房执行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82D059E-A073-4F7C-AAA5-ECE69FC0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147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真实调用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1E6F824-A496-4CDB-A227-6C9B46BC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295775"/>
            <a:ext cx="3619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5CD585-BDB9-442F-B535-B22F93FF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29100"/>
            <a:ext cx="3619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2EE7916-52DC-4477-81BB-1F23C68C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005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536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A86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A86B"/>
                </a:solidFill>
                <a:latin typeface="PingFang SC"/>
                <a:ea typeface="PingFang SC"/>
                <a:cs typeface="PingFang SC"/>
              </a:rPr>
              <a:t>模型决定：这一步调哪个工具、传什么参数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91C4B4D-5742-4FFA-B154-BF0256A3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295775"/>
            <a:ext cx="3619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CB736A0-13D4-4320-8EB1-1063B86E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29100"/>
            <a:ext cx="3619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2437BB-BFE6-4DA4-A22F-026DB762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005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8483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73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F73FF"/>
                </a:solidFill>
                <a:latin typeface="PingFang SC"/>
                <a:ea typeface="PingFang SC"/>
                <a:cs typeface="PingFang SC"/>
              </a:rPr>
              <a:t>Orchestrator 决定：菜单里有什么、能不能执行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210BD3D-08BE-4469-9376-D3BED80D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57850"/>
            <a:ext cx="1005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BFF">
              <a:alpha val="93333"/>
            </a:srgbClr>
          </a:solidFill>
          <a:ln xmlns:a="http://schemas.openxmlformats.org/drawingml/2006/main" w="11430">
            <a:solidFill>
              <a:srgbClr val="9CC8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65F3A7-611E-4FF6-9C41-6675B395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金句：模型有“选择权”，Orchestrator 有“否决权”。这不是限制智商，是防止聪明地闯红灯。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B308433-D0B8-4D32-87CD-55BFB297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4885042-699B-4948-878D-824B85C9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Evidence: runtime/types.ts ToolCallHook + gates/index.ts PolicyGate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A4EC20E-8136-4B9A-B7B3-7A7A82EF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00054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1CDC2C-EB54-465D-91AB-509C67BC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434F7-749C-4385-9A81-B4E33B2E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57F18-09C5-4827-B653-399A8861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4C9D9-0778-48C1-86C9-A91EE67A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5E1C3-2D15-4557-99DE-BA2218F1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F182D-E420-43F0-8380-70D0B9BB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7F5B5-91FF-4A68-9F77-F91EA3AA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2C0EC-5642-4D08-A298-7D5144DF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6AB5A-F581-4BE4-9D4B-7D1595A0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3D860-BD80-48E9-B194-EACB0F6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F7DA6-46AA-472D-BCB1-A1C978E3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8C8EB-3CAA-4D7A-826C-909BB18B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3DF7F-6CBF-46AA-A34E-FBEA3687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2FB36-9576-47CF-A3E5-8B16EF3D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6695C-B43D-459F-9A2B-DA4496EC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CC4AE-04EB-4611-A07D-FD89306B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3100C-1196-49FE-9EAD-FFFD7E7F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913E3-AEBE-4A04-A513-1C9D5B11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" cy="304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22EBC-1414-4C2C-BC28-EC7C0F4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614"/>
            <a:ext cx="152400" cy="152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3ACF5-71B9-4A33-8BA0-99B5D8B1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5800"/>
            <a:ext cx="342900" cy="3429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BE644-572D-4D3F-A883-94BAA2BF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47522"/>
            <a:ext cx="171450" cy="171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F37DD-009A-4591-83D7-0F0A645D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29300"/>
            <a:ext cx="266700" cy="2667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F6EAD-8A45-4F3E-9EFA-432F169A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877306"/>
            <a:ext cx="133350" cy="133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342090-19E3-4839-9FDB-5FF958B0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rPr>
              <a:t>四道闸门：把“能运行”变成“可控运行”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8ADB4-FBF1-47FE-93C1-081AF6C1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164442-2F92-4553-B328-E0485F8F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0DEC0-EB29-4C53-94EF-9D00E1F1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财务、门卫、质检、黑匣子，一个都不能少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B92C6F-B3BB-4E8A-B2AB-15820146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914525"/>
            <a:ext cx="2190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27536C-6D15-4285-932E-CB329B99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190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80D232-FED2-4A4E-A3FC-9008FDB6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9D2E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1B363-5EA4-4042-97F6-4A5EAC18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240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BudgetGate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75bc3fa6a4ec2">
            <a:extLst>
              <a:ext uri="{96DAC541-7B7A-43D3-8B79-37D633B846F1}">
                <asvg:svgBlip xmlns:asvg="http://schemas.microsoft.com/office/drawing/2016/SVG/main" r:embed="Rcbc2dde9f71840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81150" y="24384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8EE8CB-C944-4D0D-B4AC-1ACB9946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628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9D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9D2E"/>
                </a:solidFill>
                <a:latin typeface="PingFang SC"/>
                <a:ea typeface="PingFang SC"/>
                <a:cs typeface="PingFang SC"/>
              </a:rPr>
              <a:t>BudgetGate · 财务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792749-6255-43A1-B373-7FAC400A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token / toolCalls / fanout</a:t>
            </a:r>
          </a:p>
          <a:p xmlns:a="http://schemas.openxmlformats.org/drawingml/2006/main">
            <a:pPr algn="ctr">
              <a:def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超限返回 partial-result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55E1CA-2BBF-47FA-9A99-80DAE056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194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7F2DCE-AD18-43D2-A836-1CE6F2C2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14525"/>
            <a:ext cx="2190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FBB5CB-6330-489D-A3A0-B2A44938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47850"/>
            <a:ext cx="2190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F8BEC4-523F-4E1E-A69B-6E24BADE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7640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468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4C5502-2EE2-4EED-A91A-E7AAF436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7240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PolicyGate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5469fd5104d0b">
            <a:extLst>
              <a:ext uri="{96DAC541-7B7A-43D3-8B79-37D633B846F1}">
                <asvg:svgBlip xmlns:asvg="http://schemas.microsoft.com/office/drawing/2016/SVG/main" r:embed="R70cb0c70408b43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81500" y="24384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7B8178-4C81-48B5-B42C-245ACAF3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62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468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468FF"/>
                </a:solidFill>
                <a:latin typeface="PingFang SC"/>
                <a:ea typeface="PingFang SC"/>
                <a:cs typeface="PingFang SC"/>
              </a:rPr>
              <a:t>PolicyGate · 门卫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C06AA8-0B16-4C62-B0B0-5F52822F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433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只读白名单 / 高风险升级</a:t>
            </a:r>
          </a:p>
          <a:p xmlns:a="http://schemas.openxmlformats.org/drawingml/2006/main">
            <a:pPr algn="ctr">
              <a:def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写操作不直接放行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903D0E-0195-42D5-A7F5-01BBED74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194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B3ED9D-7D7E-4FCD-822C-7EC42ADD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14525"/>
            <a:ext cx="2190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14F00B-56DA-40C9-A8DA-79578459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47850"/>
            <a:ext cx="2190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AC64EF-8C98-49EC-8E47-4D725EEE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4BE040-7C1F-4ED7-B386-F06A9FEA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240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Validator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462f0295e4310">
            <a:extLst>
              <a:ext uri="{96DAC541-7B7A-43D3-8B79-37D633B846F1}">
                <asvg:svgBlip xmlns:asvg="http://schemas.microsoft.com/office/drawing/2016/SVG/main" r:embed="R8e648138d8bd48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81850" y="24384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8178B9-4113-4E1C-BE9D-E693C330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62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A86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0A86B"/>
                </a:solidFill>
                <a:latin typeface="PingFang SC"/>
                <a:ea typeface="PingFang SC"/>
                <a:cs typeface="PingFang SC"/>
              </a:rPr>
              <a:t>Validator · 质检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E36135-DAB0-475B-BB54-A23F06D4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3182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turn_state / EvidencePack</a:t>
            </a:r>
          </a:p>
          <a:p xmlns:a="http://schemas.openxmlformats.org/drawingml/2006/main">
            <a:pPr algn="ctr">
              <a:def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source_ref 必须成立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BAC796-BD93-45A2-928E-54A12D18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194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A1FD28-1E5B-40B2-BECD-08B593C5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14525"/>
            <a:ext cx="2190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D8831E-BF91-4A7B-950B-19F81752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47850"/>
            <a:ext cx="2190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95A2DE-3B13-4CD4-BF36-2280115A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7640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346F92-7FA8-4247-AF82-AC7D75D9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240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AuditLogger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c3c2a4f964ae2">
            <a:extLst>
              <a:ext uri="{96DAC541-7B7A-43D3-8B79-37D633B846F1}">
                <asvg:svgBlip xmlns:asvg="http://schemas.microsoft.com/office/drawing/2016/SVG/main" r:embed="R0a5726b0036343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82200" y="24384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15C85E-B518-44EB-999D-5F8F32D8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8496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3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73FF"/>
                </a:solidFill>
                <a:latin typeface="PingFang SC"/>
                <a:ea typeface="PingFang SC"/>
                <a:cs typeface="PingFang SC"/>
              </a:rPr>
              <a:t>AuditLogger · 黑匣子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383404F-563D-4206-98BC-8A0D884B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JSONL + OTel 风格属性</a:t>
            </a:r>
          </a:p>
          <a:p xmlns:a="http://schemas.openxmlformats.org/drawingml/2006/main">
            <a:pPr algn="ctr">
              <a:def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成功失败都留痕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C8F125-1E44-4C74-BD85-D9D91AB3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19625"/>
            <a:ext cx="929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ABBD40-9C5D-4B8C-AA1D-FC47E1D6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929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8AF528-A803-47F8-8CFB-8A9030EE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9582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企业场景里，AI 不能只靠“今天发挥不错”。闸门的价值是：失败也有结构，拦截也有证据，复盘不靠猜。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2F8C7C-629E-4893-971D-67612F73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896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F">
              <a:alpha val="93333"/>
            </a:srgbClr>
          </a:solidFill>
          <a:ln xmlns:a="http://schemas.openxmlformats.org/drawingml/2006/main" w="14288">
            <a:solidFill>
              <a:srgbClr val="9CC8FF"/>
            </a:solidFill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2f4ed974c4be7">
            <a:extLst>
              <a:ext uri="{96DAC541-7B7A-43D3-8B79-37D633B846F1}">
                <asvg:svgBlip xmlns:asvg="http://schemas.microsoft.com/office/drawing/2016/SVG/main" r:embed="Rcc2f8869f1b543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8AAC30-A030-433E-8D63-56326986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预算可控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2681D4-0672-45A5-B519-FE6A67D6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防止循环烧钱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9D4BBCF-6146-48CC-87D5-E2A5157A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886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d1f06ad7641ae">
            <a:extLst>
              <a:ext uri="{96DAC541-7B7A-43D3-8B79-37D633B846F1}">
                <asvg:svgBlip xmlns:asvg="http://schemas.microsoft.com/office/drawing/2016/SVG/main" r:embed="R82ec128a2bca41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33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BB53E3-7524-48E4-9FFF-BE7C8C0D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权限可控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E563620-48DD-4A8B-AC66-D6C31EFE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最小工具菜单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760731-39CB-4A24-A282-62838000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86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308076a614f2f">
            <a:extLst>
              <a:ext uri="{96DAC541-7B7A-43D3-8B79-37D633B846F1}">
                <asvg:svgBlip xmlns:asvg="http://schemas.microsoft.com/office/drawing/2016/SVG/main" r:embed="R42e5a58d419a46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62900" y="5924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B761BAF-B846-4254-ADE9-E1FFEFFE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84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质量可控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6AA88F-7830-4C5C-A771-DF5C055A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13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086"/>
                </a:solidFill>
                <a:latin typeface="PingFang SC"/>
                <a:ea typeface="PingFang SC"/>
                <a:cs typeface="PingFang SC"/>
              </a:rPr>
              <a:t>结果必须可验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3BB949F-A45F-40F3-89C6-890C3E29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D01E653-1E55-48B4-A57D-60FC385F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Evidence: gates/index.ts + audit/index.ts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C7DB054-8B88-415B-947B-10CC2878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32194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70D561-EC3A-42EB-8C99-B87F9C10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664A3-6DFB-47EA-975F-36F44F3B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D92AE-12B0-4140-8218-1A30784F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11D5E-1B83-44D7-8BE4-10C1CDF6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E3D0D-EE95-418E-84A8-E12D6E75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2EF67-BDE6-47E6-8C81-367558FA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FB448-5A89-4B36-8D86-C3F4D497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A851B-2B01-4397-9FC0-6C668377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D8018-4ED1-4260-B1AB-C3993269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B9703-EF95-491C-9DB1-466F6F6C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6ABCE-10C8-41E0-A7EC-E170A2DA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787DD-4DD6-4CBA-A958-F735B14A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5B12A-BF86-45FC-8FC5-6B0EA6C3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733D0-BC3C-4458-B230-3F59D49B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E1E06-CC3A-4641-A6D5-20213AB2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BA460-A118-49F3-8DD6-16B16FBC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8A4E4-F0A5-4FB6-9AA4-DB326D88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344AC-9C20-42BF-A2B4-C715259C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" cy="304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C3FD0-6F1C-4E27-91B9-6EFFCB82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614"/>
            <a:ext cx="152400" cy="152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5D049-2CAA-4561-808C-DB464FC2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5800"/>
            <a:ext cx="342900" cy="3429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28456-7858-44F3-818D-6A5225D0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47522"/>
            <a:ext cx="171450" cy="171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921F7-3462-45E9-8F3C-B64657C3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29300"/>
            <a:ext cx="266700" cy="2667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46DA8-7218-43B0-BCFE-4C353AA0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877306"/>
            <a:ext cx="133350" cy="133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3EEA3B-6BF7-4563-9C38-30A9B1AD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rPr>
              <a:t>经验复利飞轮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710A4D-77EF-40EC-9E53-DA889F4F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D1408E-F557-46D9-9F0B-59772204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6231EB-6F20-4494-AE7E-0E07C886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7815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Prompt 解决一次问题，Harness 把一次交付沉淀成一类能力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33F004-2C7A-41A6-9050-81EB5515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790825"/>
            <a:ext cx="2400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4A3491-4540-4F64-8469-9D0C92A6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2400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A1F460-E377-4A1C-8D28-5DB1361F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956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3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73FF"/>
                </a:solidFill>
                <a:latin typeface="PingFang SC"/>
                <a:ea typeface="PingFang SC"/>
                <a:cs typeface="PingFang SC"/>
              </a:rPr>
              <a:t>认知资产池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26952875e489e">
            <a:extLst>
              <a:ext uri="{96DAC541-7B7A-43D3-8B79-37D633B846F1}">
                <asvg:svgBlip xmlns:asvg="http://schemas.microsoft.com/office/drawing/2016/SVG/main" r:embed="Rcdf9ca0bf89a4a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72150" y="32956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D70273-9746-4F12-937D-93585B6A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666875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43A835-FC57-4BF2-BABC-00595095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0020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FB39B7-229E-4810-8BBD-342257DA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41B2D1-8672-47D3-AA4C-E1B5380B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52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0c10b567a44a1">
            <a:extLst>
              <a:ext uri="{96DAC541-7B7A-43D3-8B79-37D633B846F1}">
                <asvg:svgBlip xmlns:asvg="http://schemas.microsoft.com/office/drawing/2016/SVG/main" r:embed="Rfa61de5ccea947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72175" y="19621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78ECA3-AF26-4F38-A76C-99571868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24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任务执行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6D67C2-A393-48CC-9B16-3BD7B719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28875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DF64D2-B883-4963-9F4C-05DD5A7F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5A4CF2-AAA5-4F9D-98DF-3E71AD76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778386-E8B0-4B37-9C70-76035A57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fe8bd5ea74f50">
            <a:extLst>
              <a:ext uri="{96DAC541-7B7A-43D3-8B79-37D633B846F1}">
                <asvg:svgBlip xmlns:asvg="http://schemas.microsoft.com/office/drawing/2016/SVG/main" r:embed="R560575e291994f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05875" y="27241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14801B-E221-41BB-8CBD-DC315366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人工修正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F90669-6A04-4F39-B3CC-8AF8CB75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467225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56A02B-84FC-4B5B-BACD-D8C1254C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005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E4CAE2-4EF1-41E6-A6CB-991E61A8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52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86B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E3C6E3-6C90-4379-8163-DD3FA300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52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ecc3122894e2e">
            <a:extLst>
              <a:ext uri="{96DAC541-7B7A-43D3-8B79-37D633B846F1}">
                <asvg:svgBlip xmlns:asvg="http://schemas.microsoft.com/office/drawing/2016/SVG/main" r:embed="Ra3e9f0b51da24f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34375" y="4762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BEEB9D-78CB-4E0E-8337-F0AD0430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24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经验抽取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90F71D-04D6-4049-93C4-39F7E7F6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67225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56EFA6-551A-423C-8A4A-4425E1DC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005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0F3E41-FF2F-4E78-A6A2-F41A78CF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52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86B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039DB9-4293-4FB9-B1AC-2930D2B1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52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540a6aca74dac">
            <a:extLst>
              <a:ext uri="{96DAC541-7B7A-43D3-8B79-37D633B846F1}">
                <asvg:svgBlip xmlns:asvg="http://schemas.microsoft.com/office/drawing/2016/SVG/main" r:embed="R232b10603f9f41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43475" y="4762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D8AD3E-20FC-47A6-819D-D5C0404C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24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447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Skill / Memory 更新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DC8520-7CC8-47FC-8602-95C59BFC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F7DC54-5C03-40CA-96C3-8C5794F1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6220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D26D95-D645-400A-A247-A0048CA0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768D001-8A3B-4377-802D-E8C37323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14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7a24546ad452b">
            <a:extLst>
              <a:ext uri="{96DAC541-7B7A-43D3-8B79-37D633B846F1}">
                <asvg:svgBlip xmlns:asvg="http://schemas.microsoft.com/office/drawing/2016/SVG/main" r:embed="Rcb123a400ade4d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27241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4BF0EC-DD1F-45C6-8095-9270C2AE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86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Eval 验证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245DFCA-EEE3-4192-8F7E-68D2A1F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4191000" cy="3429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64A9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E96B6A-81A4-4BBC-92EA-D473ED60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81175"/>
            <a:ext cx="2000250" cy="3143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9ABF5C-D071-4082-814D-53EA56F7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000250" cy="3143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D64B84-C2EB-4B1D-9E8D-4F379421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43050"/>
            <a:ext cx="1543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468FF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C294C1-8709-4384-A30A-247F82CE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906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882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经验资产需要四个护栏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71A7B71-137E-44AA-896A-1E38A4ED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3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73FF"/>
                </a:solidFill>
                <a:latin typeface="PingFang SC"/>
                <a:ea typeface="PingFang SC"/>
                <a:cs typeface="PingFang SC"/>
              </a:rPr>
              <a:t>source_ref</a:t>
            </a:r>
          </a:p>
          <a:p xmlns:a="http://schemas.openxmlformats.org/drawingml/2006/main">
            <a:pPr algn="ctr">
              <a:defRPr sz="1200" b="1">
                <a:solidFill>
                  <a:srgbClr val="2F73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73FF"/>
                </a:solidFill>
                <a:latin typeface="PingFang SC"/>
                <a:ea typeface="PingFang SC"/>
                <a:cs typeface="PingFang SC"/>
              </a:rPr>
              <a:t>记录来源与证据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4EAEA93-21A4-4B04-91B0-0C51F277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版本</a:t>
            </a:r>
          </a:p>
          <a:p xmlns:a="http://schemas.openxmlformats.org/drawingml/2006/main">
            <a:pPr algn="ctr">
              <a:defRPr sz="120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演进有迹可循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E34FF5-3A0E-4548-A83F-0D6E5CF5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审批</a:t>
            </a:r>
          </a:p>
          <a:p xmlns:a="http://schemas.openxmlformats.org/drawingml/2006/main">
            <a:pPr algn="ctr">
              <a:defRPr sz="120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关键变更需把关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7894D8-106F-45C8-831C-DD163BF7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回归</a:t>
            </a:r>
          </a:p>
          <a:p xmlns:a="http://schemas.openxmlformats.org/drawingml/2006/main">
            <a:pPr algn="ctr">
              <a:defRPr sz="1200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防止能力退化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4DAA51-5C6C-425C-9573-850B15DB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857375"/>
            <a:ext cx="1943100" cy="29908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C1D525D-B89B-4247-BB07-7A7505BB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90700"/>
            <a:ext cx="1943100" cy="29908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B158D34-4EC8-4225-8903-403F93B5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19250"/>
            <a:ext cx="1485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34E5E1-96A7-4543-9846-1E5CFFD8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6687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复利效果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f35056c4a4d69">
            <a:extLst>
              <a:ext uri="{96DAC541-7B7A-43D3-8B79-37D633B846F1}">
                <asvg:svgBlip xmlns:asvg="http://schemas.microsoft.com/office/drawing/2016/SVG/main" r:embed="R9b5c554823104b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34600" y="24003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C6F81C7-3551-49D5-98B3-057FC9EC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9B2D7B-52AB-444C-9A9A-2DC7EAAD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385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交付更快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557052D-734E-4CF6-9144-1B117C05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76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8F47B26-31AE-4AED-8FA3-95EB9C15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004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结果更准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00D8B2C-BBB2-40F8-BD43-182BD004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5C59D6-A070-4FE1-89CB-A6B665AB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624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风险更低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72F094A-7745-416F-B336-D5AD00A9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D29AA5B-DA44-4F4E-8F88-5E69BBBB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243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经验可扩展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E6F5E81-1A0B-4DAA-8F32-0E2B17F1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57850"/>
            <a:ext cx="1005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BFF">
              <a:alpha val="93333"/>
            </a:srgbClr>
          </a:solidFill>
          <a:ln xmlns:a="http://schemas.openxmlformats.org/drawingml/2006/main" w="11430">
            <a:solidFill>
              <a:srgbClr val="9CC8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71D39B6-36B0-46EF-B1D8-F1AB8B12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错题本可以自动整理，但必须人工批改后才能进教材。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634DDB7-3467-44BB-B055-DFDCB7FC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15C9E56-3E82-4DA5-9413-5264D347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Evidence: automemory/harvester.ts + reviewCli.ts + memory/index.ts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D2D8007-D1E6-4487-95D3-9C106994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03407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32DC1F-4043-47D5-B940-953743CB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8464B-D23F-4138-8C5C-DB4EC858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AB00C-EF50-49AC-B058-0D2E95FA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DC598-611B-4FCE-9117-1FF62534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1AFAC-A99C-4E75-A8FD-BC9056A5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CA92E-A18C-4453-96F5-531DB3C1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2E998-80B8-43C4-89A4-E6E451CE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A9028-6B8D-4D92-B0D2-9E041966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14B5B-12C6-45ED-AFAE-485FC26B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EA96C-CFBF-4F40-B11E-BD6463CD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287F3-A67E-44C7-8B52-C5DB0DB2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B174E-1B3A-49D3-B424-0BE858EC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DC14F-2271-4B15-9DB0-46EEA604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3A58D-E6A1-4552-9A30-A1F8A00D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C6C9D-B818-4F9A-B502-A14D0FC2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2B8DC-422F-41AE-8847-578253B1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B667E-0284-42CC-9DB3-10EAFC21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689A9-7E8B-4389-B32C-156CB82F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" cy="304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FBD96-C2F3-4625-9C15-2B652C4F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614"/>
            <a:ext cx="152400" cy="152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ABC6A-5C96-4138-830D-A3DCD6F4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5800"/>
            <a:ext cx="342900" cy="3429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502C9-71B2-4C4A-9601-4093F34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47522"/>
            <a:ext cx="171450" cy="171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468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A8E69-55B6-43A4-9161-53393E12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29300"/>
            <a:ext cx="266700" cy="2667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33333"/>
            </a:srgbClr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99E29-B955-496C-9567-D91626D3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877306"/>
            <a:ext cx="133350" cy="133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F73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9967BF-51A7-421C-AA1C-9E1C28E7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7184A"/>
                </a:solidFill>
                <a:latin typeface="PingFang SC"/>
                <a:ea typeface="PingFang SC"/>
                <a:cs typeface="PingFang SC"/>
              </a:rPr>
              <a:t>当前落地：控制面已成型，写回仍在门禁后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5BB614-BC5A-4D8F-8452-F9FA70C1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F4C55-AA39-4AA9-A3EF-4C45859B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C2855D-1213-401B-B5B5-D88FD6FB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下一步不是更大胆，而是更可验收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EACB66-31D7-42D9-AB3A-48D0BF11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85925"/>
            <a:ext cx="47625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06E530-C73F-4E00-B5D8-208BCB84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8F9166-0D68-4670-8C32-5937BFAA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86B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9D2921-E1A9-44A0-A73A-7A97642D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9542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已落地：可以讲工程实现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188A6A-28D8-4130-B046-0A36BF3F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8D39CF-B4AC-454E-BA85-215F7894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SDK / CLI Runtime 统一接口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8A9041-02D4-4EE0-AC66-632CBFC1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03A232-7E67-4B51-B1BD-7488DBC3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Budget / Policy / Validator Gate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715E98-DFD6-497A-840F-613E956B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D64E6C-DDBF-488E-81E1-B439A242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Jira + Memory + Retrieval + Skill 上下文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E452B6-A839-4730-A464-E241DAC5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BA8B4F-9629-4F41-958E-5641F3AE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04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Audit JSONL + OTel 风格属性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4BFD40-F106-4A6D-8FDF-EC4D2DD6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CCF076-B07C-49FC-880F-D92C76D9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Auto-Memory + Review CLI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63E4C6-3C0F-4CE7-A54C-D1733977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563A09-1FF2-45EB-8704-7853E429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243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Fleet / Arena deterministic mock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CEDBE9-BFE6-40BD-B5F2-3F8825E9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685925"/>
            <a:ext cx="47625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7EB7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62D32A-5E23-4000-A4E2-93D19914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47625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7FBFF">
              <a:alpha val="86667"/>
            </a:srgbClr>
          </a:solidFill>
          <a:ln xmlns:a="http://schemas.openxmlformats.org/drawingml/2006/main" w="13335">
            <a:solidFill>
              <a:srgbClr val="9CC8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67EE5B-3887-43FD-9B36-CE7689F7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478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9D2E"/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1EDBC6-36F0-4F37-AB91-291A198B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49542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未放行：只能讲边界和下一步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5662F1-3009-4BF4-90E6-1757722C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22AD38-DB27-4B75-97A7-804010BC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真实 /fleet worktree fanout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66BB18-0322-4B9E-91F6-C4CCDA86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C60914-1D0D-469E-8408-31241711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真实 GitLab MR 创建 / push / merge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E4D2CB-6AAD-48D6-A7A2-1FC9D68F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BAF26F-C93C-4135-BFF6-2C9DDB95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384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Jira Writer 或状态自动流转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AA9B9F-DA31-4FBE-8DD3-12B0554D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F15C8D-E85E-4145-8525-5DA05BB6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004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真实 Runner CI 完整执行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F31606-4C80-48FE-AE1A-5B039BB2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2EF671-BF48-4E95-93A7-79CF46B2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Memory MCP 生产 cutover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70909D-350A-4C24-9B7F-054B6579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1790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>
              <a:alpha val="100000"/>
            </a:srgbClr>
          </a:solidFill>
          <a:ln xmlns:a="http://schemas.openxmlformats.org/drawingml/2006/main" w="12383">
            <a:solidFill>
              <a:srgbClr val="2F73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4A90A0-F8EF-42AF-91A7-35C3CD46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1F42B4-48C9-4D36-B4CC-EE009CC6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1. 接 Runner</a:t>
            </a:r>
          </a:p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CI 三闸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2DA5ED-2BBA-4B7A-83F5-1401DA16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387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9ED59C-7CE5-4011-B44D-690204BB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67300"/>
            <a:ext cx="1790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>
              <a:alpha val="100000"/>
            </a:srgbClr>
          </a:solidFill>
          <a:ln xmlns:a="http://schemas.openxmlformats.org/drawingml/2006/main" w="12383">
            <a:solidFill>
              <a:srgbClr val="2F73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48B304-0601-4032-B794-299BE03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673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C69A5F-F3B9-471D-81B7-7E9B54BD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2445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2. Memory cutover</a:t>
            </a:r>
          </a:p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dual-write 证据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9C1CBD-1302-438D-B0A3-287E7552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387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00FFC25-B8FC-432E-A9F5-4691E8DE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1790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>
              <a:alpha val="100000"/>
            </a:srgbClr>
          </a:solidFill>
          <a:ln xmlns:a="http://schemas.openxmlformats.org/drawingml/2006/main" w="12383">
            <a:solidFill>
              <a:srgbClr val="7468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85A4E9-AC5F-41E0-83B3-5CCC673D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6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D268BB-9300-4E93-9A5E-49BF9A41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2445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3. 只读 Resolver</a:t>
            </a:r>
          </a:p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缺证据就转人工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5AB1E80-FFF0-4661-95D0-EFB155E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D49664C-C0ED-4D5C-8556-541C6AF6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1790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>
              <a:alpha val="100000"/>
            </a:srgbClr>
          </a:solidFill>
          <a:ln xmlns:a="http://schemas.openxmlformats.org/drawingml/2006/main" w="12383">
            <a:solidFill>
              <a:srgbClr val="7468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758B1E3-04CA-47D4-B0D5-6C97868E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6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0D3C724-91B7-4E21-8899-B5644ED0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2445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4. Draft MR</a:t>
            </a:r>
          </a:p>
          <a:p xmlns:a="http://schemas.openxmlformats.org/drawingml/2006/main">
            <a:pPr algn="ctr">
              <a:def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写回在 Policy 后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90FB698-26EB-4CBC-BE8D-29CE651B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57850"/>
            <a:ext cx="1005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BFF">
              <a:alpha val="93333"/>
            </a:srgbClr>
          </a:solidFill>
          <a:ln xmlns:a="http://schemas.openxmlformats.org/drawingml/2006/main" w="11430">
            <a:solidFill>
              <a:srgbClr val="9CC8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3089A5-96A7-49C7-AD4C-6A361C57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55D"/>
                </a:solidFill>
                <a:latin typeface="PingFang SC"/>
                <a:ea typeface="PingFang SC"/>
                <a:cs typeface="PingFang SC"/>
              </a:rPr>
              <a:t>收尾：我们不在 Agent 能力上重复造轮子，我们在 Agent 治理上独立造护栏。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A37D88D-F914-4141-8982-4E3E8E3A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203601-CB1D-4677-85CF-170A3EAE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Evidence: docs/orchestrator-implementation-current.md section 15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0EEA43-35E3-4FE7-BB12-6847015E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15086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315086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5068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2026-05-24T14:51:10.2230000Z</dcterms:created>
  <dcterms:modified xsi:type="dcterms:W3CDTF">2026-05-24T14:51:10.2230000Z</dcterms:modified>
</coreProperties>
</file>